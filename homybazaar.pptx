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sldIdLst>
    <p:sldId id="257" r:id="rId2"/>
    <p:sldId id="259" r:id="rId3"/>
    <p:sldId id="264" r:id="rId4"/>
    <p:sldId id="274" r:id="rId5"/>
    <p:sldId id="275" r:id="rId6"/>
    <p:sldId id="260" r:id="rId7"/>
    <p:sldId id="261" r:id="rId8"/>
    <p:sldId id="262" r:id="rId9"/>
    <p:sldId id="268" r:id="rId10"/>
    <p:sldId id="277" r:id="rId11"/>
    <p:sldId id="278" r:id="rId12"/>
    <p:sldId id="279" r:id="rId13"/>
    <p:sldId id="281" r:id="rId14"/>
    <p:sldId id="285" r:id="rId15"/>
    <p:sldId id="283" r:id="rId16"/>
    <p:sldId id="284"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ABC32"/>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26AED2-734C-4A29-8D25-EAE37BE9D9ED}" v="11" dt="2026-04-12T18:52:25.497"/>
  </p1510:revLst>
</p1510:revInfo>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021" autoAdjust="0"/>
  </p:normalViewPr>
  <p:slideViewPr>
    <p:cSldViewPr>
      <p:cViewPr varScale="1">
        <p:scale>
          <a:sx n="77" d="100"/>
          <a:sy n="77" d="100"/>
        </p:scale>
        <p:origin x="1618" y="5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ushi Patel" userId="debf88984db5ddcd" providerId="LiveId" clId="{4F58BF88-0D4E-4B02-A30B-06AF898190A8}"/>
    <pc:docChg chg="undo custSel addSld delSld modSld">
      <pc:chgData name="Krushi Patel" userId="debf88984db5ddcd" providerId="LiveId" clId="{4F58BF88-0D4E-4B02-A30B-06AF898190A8}" dt="2026-04-13T05:35:16.725" v="511" actId="1076"/>
      <pc:docMkLst>
        <pc:docMk/>
      </pc:docMkLst>
      <pc:sldChg chg="modSp mod">
        <pc:chgData name="Krushi Patel" userId="debf88984db5ddcd" providerId="LiveId" clId="{4F58BF88-0D4E-4B02-A30B-06AF898190A8}" dt="2026-04-13T05:35:16.725" v="511" actId="1076"/>
        <pc:sldMkLst>
          <pc:docMk/>
          <pc:sldMk cId="2702282284" sldId="257"/>
        </pc:sldMkLst>
        <pc:spChg chg="mod">
          <ac:chgData name="Krushi Patel" userId="debf88984db5ddcd" providerId="LiveId" clId="{4F58BF88-0D4E-4B02-A30B-06AF898190A8}" dt="2026-04-13T05:35:16.725" v="511" actId="1076"/>
          <ac:spMkLst>
            <pc:docMk/>
            <pc:sldMk cId="2702282284" sldId="257"/>
            <ac:spMk id="2" creationId="{00000000-0000-0000-0000-000000000000}"/>
          </ac:spMkLst>
        </pc:spChg>
        <pc:spChg chg="mod">
          <ac:chgData name="Krushi Patel" userId="debf88984db5ddcd" providerId="LiveId" clId="{4F58BF88-0D4E-4B02-A30B-06AF898190A8}" dt="2026-04-13T05:34:34.830" v="510" actId="1076"/>
          <ac:spMkLst>
            <pc:docMk/>
            <pc:sldMk cId="2702282284" sldId="257"/>
            <ac:spMk id="4" creationId="{00000000-0000-0000-0000-000000000000}"/>
          </ac:spMkLst>
        </pc:spChg>
        <pc:spChg chg="mod">
          <ac:chgData name="Krushi Patel" userId="debf88984db5ddcd" providerId="LiveId" clId="{4F58BF88-0D4E-4B02-A30B-06AF898190A8}" dt="2026-04-13T04:26:14.877" v="494" actId="20577"/>
          <ac:spMkLst>
            <pc:docMk/>
            <pc:sldMk cId="2702282284" sldId="257"/>
            <ac:spMk id="5" creationId="{00000000-0000-0000-0000-000000000000}"/>
          </ac:spMkLst>
        </pc:spChg>
        <pc:spChg chg="mod">
          <ac:chgData name="Krushi Patel" userId="debf88984db5ddcd" providerId="LiveId" clId="{4F58BF88-0D4E-4B02-A30B-06AF898190A8}" dt="2026-04-12T18:51:22.324" v="450" actId="207"/>
          <ac:spMkLst>
            <pc:docMk/>
            <pc:sldMk cId="2702282284" sldId="257"/>
            <ac:spMk id="6" creationId="{9C96A1D2-823A-10F5-92D8-9EA4946827D5}"/>
          </ac:spMkLst>
        </pc:spChg>
      </pc:sldChg>
      <pc:sldChg chg="modSp mod modTransition">
        <pc:chgData name="Krushi Patel" userId="debf88984db5ddcd" providerId="LiveId" clId="{4F58BF88-0D4E-4B02-A30B-06AF898190A8}" dt="2026-04-11T08:22:56.273" v="401" actId="404"/>
        <pc:sldMkLst>
          <pc:docMk/>
          <pc:sldMk cId="1569792744" sldId="261"/>
        </pc:sldMkLst>
        <pc:spChg chg="mod">
          <ac:chgData name="Krushi Patel" userId="debf88984db5ddcd" providerId="LiveId" clId="{4F58BF88-0D4E-4B02-A30B-06AF898190A8}" dt="2026-04-11T08:22:04.343" v="393" actId="27636"/>
          <ac:spMkLst>
            <pc:docMk/>
            <pc:sldMk cId="1569792744" sldId="261"/>
            <ac:spMk id="5" creationId="{00000000-0000-0000-0000-000000000000}"/>
          </ac:spMkLst>
        </pc:spChg>
        <pc:spChg chg="mod">
          <ac:chgData name="Krushi Patel" userId="debf88984db5ddcd" providerId="LiveId" clId="{4F58BF88-0D4E-4B02-A30B-06AF898190A8}" dt="2026-04-11T08:22:56.273" v="401" actId="404"/>
          <ac:spMkLst>
            <pc:docMk/>
            <pc:sldMk cId="1569792744" sldId="261"/>
            <ac:spMk id="6" creationId="{00000000-0000-0000-0000-000000000000}"/>
          </ac:spMkLst>
        </pc:spChg>
      </pc:sldChg>
      <pc:sldChg chg="modSp">
        <pc:chgData name="Krushi Patel" userId="debf88984db5ddcd" providerId="LiveId" clId="{4F58BF88-0D4E-4B02-A30B-06AF898190A8}" dt="2026-04-12T18:52:25.496" v="451"/>
        <pc:sldMkLst>
          <pc:docMk/>
          <pc:sldMk cId="411627156" sldId="268"/>
        </pc:sldMkLst>
        <pc:picChg chg="mod">
          <ac:chgData name="Krushi Patel" userId="debf88984db5ddcd" providerId="LiveId" clId="{4F58BF88-0D4E-4B02-A30B-06AF898190A8}" dt="2026-04-12T18:52:25.496" v="451"/>
          <ac:picMkLst>
            <pc:docMk/>
            <pc:sldMk cId="411627156" sldId="268"/>
            <ac:picMk id="4" creationId="{DB97CEFF-1D74-1012-FEFE-4388ED40DAB1}"/>
          </ac:picMkLst>
        </pc:picChg>
      </pc:sldChg>
      <pc:sldChg chg="addSp delSp modSp mod">
        <pc:chgData name="Krushi Patel" userId="debf88984db5ddcd" providerId="LiveId" clId="{4F58BF88-0D4E-4B02-A30B-06AF898190A8}" dt="2026-04-12T18:44:48.934" v="407" actId="14100"/>
        <pc:sldMkLst>
          <pc:docMk/>
          <pc:sldMk cId="759017298" sldId="277"/>
        </pc:sldMkLst>
        <pc:picChg chg="add mod">
          <ac:chgData name="Krushi Patel" userId="debf88984db5ddcd" providerId="LiveId" clId="{4F58BF88-0D4E-4B02-A30B-06AF898190A8}" dt="2026-04-12T18:44:48.934" v="407" actId="14100"/>
          <ac:picMkLst>
            <pc:docMk/>
            <pc:sldMk cId="759017298" sldId="277"/>
            <ac:picMk id="3" creationId="{1B513054-4884-C289-0A9F-9E6424A37B4D}"/>
          </ac:picMkLst>
        </pc:picChg>
        <pc:picChg chg="del">
          <ac:chgData name="Krushi Patel" userId="debf88984db5ddcd" providerId="LiveId" clId="{4F58BF88-0D4E-4B02-A30B-06AF898190A8}" dt="2026-04-12T18:44:29.510" v="402" actId="478"/>
          <ac:picMkLst>
            <pc:docMk/>
            <pc:sldMk cId="759017298" sldId="277"/>
            <ac:picMk id="7170" creationId="{00000000-0000-0000-0000-000000000000}"/>
          </ac:picMkLst>
        </pc:picChg>
      </pc:sldChg>
      <pc:sldChg chg="addSp delSp modSp mod">
        <pc:chgData name="Krushi Patel" userId="debf88984db5ddcd" providerId="LiveId" clId="{4F58BF88-0D4E-4B02-A30B-06AF898190A8}" dt="2026-04-12T18:46:21.005" v="420" actId="14100"/>
        <pc:sldMkLst>
          <pc:docMk/>
          <pc:sldMk cId="3278021413" sldId="278"/>
        </pc:sldMkLst>
        <pc:picChg chg="add mod">
          <ac:chgData name="Krushi Patel" userId="debf88984db5ddcd" providerId="LiveId" clId="{4F58BF88-0D4E-4B02-A30B-06AF898190A8}" dt="2026-04-12T18:46:17.320" v="419" actId="1076"/>
          <ac:picMkLst>
            <pc:docMk/>
            <pc:sldMk cId="3278021413" sldId="278"/>
            <ac:picMk id="3" creationId="{03FDA92C-2A72-6DEF-1A61-E2AF5CF0B9E1}"/>
          </ac:picMkLst>
        </pc:picChg>
        <pc:picChg chg="add mod">
          <ac:chgData name="Krushi Patel" userId="debf88984db5ddcd" providerId="LiveId" clId="{4F58BF88-0D4E-4B02-A30B-06AF898190A8}" dt="2026-04-12T18:46:21.005" v="420" actId="14100"/>
          <ac:picMkLst>
            <pc:docMk/>
            <pc:sldMk cId="3278021413" sldId="278"/>
            <ac:picMk id="4" creationId="{A94C0221-C75B-235A-C9C3-5E6BAF4537D6}"/>
          </ac:picMkLst>
        </pc:picChg>
        <pc:picChg chg="del">
          <ac:chgData name="Krushi Patel" userId="debf88984db5ddcd" providerId="LiveId" clId="{4F58BF88-0D4E-4B02-A30B-06AF898190A8}" dt="2026-04-12T18:45:28.600" v="408" actId="478"/>
          <ac:picMkLst>
            <pc:docMk/>
            <pc:sldMk cId="3278021413" sldId="278"/>
            <ac:picMk id="8194" creationId="{00000000-0000-0000-0000-000000000000}"/>
          </ac:picMkLst>
        </pc:picChg>
        <pc:picChg chg="del">
          <ac:chgData name="Krushi Patel" userId="debf88984db5ddcd" providerId="LiveId" clId="{4F58BF88-0D4E-4B02-A30B-06AF898190A8}" dt="2026-04-12T18:45:30.178" v="409" actId="478"/>
          <ac:picMkLst>
            <pc:docMk/>
            <pc:sldMk cId="3278021413" sldId="278"/>
            <ac:picMk id="8195" creationId="{00000000-0000-0000-0000-000000000000}"/>
          </ac:picMkLst>
        </pc:picChg>
      </pc:sldChg>
      <pc:sldChg chg="addSp delSp modSp mod">
        <pc:chgData name="Krushi Patel" userId="debf88984db5ddcd" providerId="LiveId" clId="{4F58BF88-0D4E-4B02-A30B-06AF898190A8}" dt="2026-04-12T18:46:58.629" v="425" actId="14100"/>
        <pc:sldMkLst>
          <pc:docMk/>
          <pc:sldMk cId="2699707162" sldId="279"/>
        </pc:sldMkLst>
        <pc:picChg chg="add mod">
          <ac:chgData name="Krushi Patel" userId="debf88984db5ddcd" providerId="LiveId" clId="{4F58BF88-0D4E-4B02-A30B-06AF898190A8}" dt="2026-04-12T18:46:58.629" v="425" actId="14100"/>
          <ac:picMkLst>
            <pc:docMk/>
            <pc:sldMk cId="2699707162" sldId="279"/>
            <ac:picMk id="3" creationId="{BA0F7099-9356-8569-45D7-561462344968}"/>
          </ac:picMkLst>
        </pc:picChg>
        <pc:picChg chg="del">
          <ac:chgData name="Krushi Patel" userId="debf88984db5ddcd" providerId="LiveId" clId="{4F58BF88-0D4E-4B02-A30B-06AF898190A8}" dt="2026-04-12T18:46:43.923" v="421" actId="478"/>
          <ac:picMkLst>
            <pc:docMk/>
            <pc:sldMk cId="2699707162" sldId="279"/>
            <ac:picMk id="4" creationId="{26BEF79A-2DF2-33B9-8F92-596896107F35}"/>
          </ac:picMkLst>
        </pc:picChg>
      </pc:sldChg>
      <pc:sldChg chg="delSp del mod">
        <pc:chgData name="Krushi Patel" userId="debf88984db5ddcd" providerId="LiveId" clId="{4F58BF88-0D4E-4B02-A30B-06AF898190A8}" dt="2026-04-13T05:25:41.823" v="497" actId="47"/>
        <pc:sldMkLst>
          <pc:docMk/>
          <pc:sldMk cId="1205252057" sldId="280"/>
        </pc:sldMkLst>
        <pc:picChg chg="del">
          <ac:chgData name="Krushi Patel" userId="debf88984db5ddcd" providerId="LiveId" clId="{4F58BF88-0D4E-4B02-A30B-06AF898190A8}" dt="2026-04-13T05:25:28.965" v="495" actId="478"/>
          <ac:picMkLst>
            <pc:docMk/>
            <pc:sldMk cId="1205252057" sldId="280"/>
            <ac:picMk id="4" creationId="{41A1D97A-C5F3-FBC2-ED80-E3FCFDF634C5}"/>
          </ac:picMkLst>
        </pc:picChg>
        <pc:picChg chg="del">
          <ac:chgData name="Krushi Patel" userId="debf88984db5ddcd" providerId="LiveId" clId="{4F58BF88-0D4E-4B02-A30B-06AF898190A8}" dt="2026-04-13T05:25:31.638" v="496" actId="478"/>
          <ac:picMkLst>
            <pc:docMk/>
            <pc:sldMk cId="1205252057" sldId="280"/>
            <ac:picMk id="6" creationId="{B88C64DF-0245-6CB7-1355-89E7319230D6}"/>
          </ac:picMkLst>
        </pc:picChg>
      </pc:sldChg>
      <pc:sldChg chg="addSp delSp modSp mod">
        <pc:chgData name="Krushi Patel" userId="debf88984db5ddcd" providerId="LiveId" clId="{4F58BF88-0D4E-4B02-A30B-06AF898190A8}" dt="2026-04-12T18:47:40.646" v="431" actId="14100"/>
        <pc:sldMkLst>
          <pc:docMk/>
          <pc:sldMk cId="831884544" sldId="281"/>
        </pc:sldMkLst>
        <pc:picChg chg="add mod">
          <ac:chgData name="Krushi Patel" userId="debf88984db5ddcd" providerId="LiveId" clId="{4F58BF88-0D4E-4B02-A30B-06AF898190A8}" dt="2026-04-12T18:47:40.646" v="431" actId="14100"/>
          <ac:picMkLst>
            <pc:docMk/>
            <pc:sldMk cId="831884544" sldId="281"/>
            <ac:picMk id="3" creationId="{77B622C4-AD97-D049-ACFD-8FBBEA168064}"/>
          </ac:picMkLst>
        </pc:picChg>
        <pc:picChg chg="del">
          <ac:chgData name="Krushi Patel" userId="debf88984db5ddcd" providerId="LiveId" clId="{4F58BF88-0D4E-4B02-A30B-06AF898190A8}" dt="2026-04-12T18:47:17.834" v="426" actId="478"/>
          <ac:picMkLst>
            <pc:docMk/>
            <pc:sldMk cId="831884544" sldId="281"/>
            <ac:picMk id="5" creationId="{4F92CDBB-3944-6BA1-B373-62F7D2FD04B6}"/>
          </ac:picMkLst>
        </pc:picChg>
      </pc:sldChg>
      <pc:sldChg chg="modSp mod">
        <pc:chgData name="Krushi Patel" userId="debf88984db5ddcd" providerId="LiveId" clId="{4F58BF88-0D4E-4B02-A30B-06AF898190A8}" dt="2026-04-12T18:53:12.306" v="457" actId="1076"/>
        <pc:sldMkLst>
          <pc:docMk/>
          <pc:sldMk cId="3517722954" sldId="284"/>
        </pc:sldMkLst>
        <pc:spChg chg="mod">
          <ac:chgData name="Krushi Patel" userId="debf88984db5ddcd" providerId="LiveId" clId="{4F58BF88-0D4E-4B02-A30B-06AF898190A8}" dt="2026-04-12T18:52:55.014" v="454" actId="1076"/>
          <ac:spMkLst>
            <pc:docMk/>
            <pc:sldMk cId="3517722954" sldId="284"/>
            <ac:spMk id="2" creationId="{00000000-0000-0000-0000-000000000000}"/>
          </ac:spMkLst>
        </pc:spChg>
        <pc:spChg chg="mod">
          <ac:chgData name="Krushi Patel" userId="debf88984db5ddcd" providerId="LiveId" clId="{4F58BF88-0D4E-4B02-A30B-06AF898190A8}" dt="2026-04-12T18:53:12.306" v="457" actId="1076"/>
          <ac:spMkLst>
            <pc:docMk/>
            <pc:sldMk cId="3517722954" sldId="284"/>
            <ac:spMk id="4" creationId="{00000000-0000-0000-0000-000000000000}"/>
          </ac:spMkLst>
        </pc:spChg>
      </pc:sldChg>
      <pc:sldChg chg="addSp delSp modSp mod">
        <pc:chgData name="Krushi Patel" userId="debf88984db5ddcd" providerId="LiveId" clId="{4F58BF88-0D4E-4B02-A30B-06AF898190A8}" dt="2026-04-12T18:48:44.140" v="444" actId="1076"/>
        <pc:sldMkLst>
          <pc:docMk/>
          <pc:sldMk cId="1683260098" sldId="285"/>
        </pc:sldMkLst>
        <pc:spChg chg="mod">
          <ac:chgData name="Krushi Patel" userId="debf88984db5ddcd" providerId="LiveId" clId="{4F58BF88-0D4E-4B02-A30B-06AF898190A8}" dt="2026-04-12T18:48:44.140" v="444" actId="1076"/>
          <ac:spMkLst>
            <pc:docMk/>
            <pc:sldMk cId="1683260098" sldId="285"/>
            <ac:spMk id="2" creationId="{00000000-0000-0000-0000-000000000000}"/>
          </ac:spMkLst>
        </pc:spChg>
        <pc:picChg chg="add mod">
          <ac:chgData name="Krushi Patel" userId="debf88984db5ddcd" providerId="LiveId" clId="{4F58BF88-0D4E-4B02-A30B-06AF898190A8}" dt="2026-04-12T18:48:22.393" v="440" actId="1076"/>
          <ac:picMkLst>
            <pc:docMk/>
            <pc:sldMk cId="1683260098" sldId="285"/>
            <ac:picMk id="3" creationId="{02E02BD7-BAC6-E051-91BD-7FEA4221E2DF}"/>
          </ac:picMkLst>
        </pc:picChg>
        <pc:picChg chg="add mod">
          <ac:chgData name="Krushi Patel" userId="debf88984db5ddcd" providerId="LiveId" clId="{4F58BF88-0D4E-4B02-A30B-06AF898190A8}" dt="2026-04-12T18:48:32.638" v="443" actId="14100"/>
          <ac:picMkLst>
            <pc:docMk/>
            <pc:sldMk cId="1683260098" sldId="285"/>
            <ac:picMk id="4" creationId="{416D67DA-29BE-748C-DB1E-EDE9D699F828}"/>
          </ac:picMkLst>
        </pc:picChg>
        <pc:picChg chg="del">
          <ac:chgData name="Krushi Patel" userId="debf88984db5ddcd" providerId="LiveId" clId="{4F58BF88-0D4E-4B02-A30B-06AF898190A8}" dt="2026-04-12T18:47:51.924" v="432" actId="478"/>
          <ac:picMkLst>
            <pc:docMk/>
            <pc:sldMk cId="1683260098" sldId="285"/>
            <ac:picMk id="6" creationId="{0BB06885-670E-1B57-4221-95506C5631D7}"/>
          </ac:picMkLst>
        </pc:picChg>
        <pc:picChg chg="del">
          <ac:chgData name="Krushi Patel" userId="debf88984db5ddcd" providerId="LiveId" clId="{4F58BF88-0D4E-4B02-A30B-06AF898190A8}" dt="2026-04-12T18:47:54.105" v="433" actId="478"/>
          <ac:picMkLst>
            <pc:docMk/>
            <pc:sldMk cId="1683260098" sldId="285"/>
            <ac:picMk id="8" creationId="{8503A2DB-4C06-79FB-D855-4F7078F557BC}"/>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655F88-9AC1-4DC5-8949-9D106C25D9E0}" type="datetimeFigureOut">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7F2B965C-5B3F-4938-9601-AB0D233DC18A}" type="slidenum">
              <a:rPr lang="en-IN" smtClean="0"/>
              <a:t>‹#›</a:t>
            </a:fld>
            <a:endParaRPr lang="en-IN"/>
          </a:p>
        </p:txBody>
      </p:sp>
    </p:spTree>
    <p:extLst>
      <p:ext uri="{BB962C8B-B14F-4D97-AF65-F5344CB8AC3E}">
        <p14:creationId xmlns:p14="http://schemas.microsoft.com/office/powerpoint/2010/main" val="756996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655F88-9AC1-4DC5-8949-9D106C25D9E0}" type="datetimeFigureOut">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F2B965C-5B3F-4938-9601-AB0D233DC18A}" type="slidenum">
              <a:rPr lang="en-IN" smtClean="0"/>
              <a:t>‹#›</a:t>
            </a:fld>
            <a:endParaRPr lang="en-IN"/>
          </a:p>
        </p:txBody>
      </p:sp>
    </p:spTree>
    <p:extLst>
      <p:ext uri="{BB962C8B-B14F-4D97-AF65-F5344CB8AC3E}">
        <p14:creationId xmlns:p14="http://schemas.microsoft.com/office/powerpoint/2010/main" val="1552325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655F88-9AC1-4DC5-8949-9D106C25D9E0}" type="datetimeFigureOut">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7F2B965C-5B3F-4938-9601-AB0D233DC18A}" type="slidenum">
              <a:rPr lang="en-IN" smtClean="0"/>
              <a:t>‹#›</a:t>
            </a:fld>
            <a:endParaRPr lang="en-IN"/>
          </a:p>
        </p:txBody>
      </p:sp>
    </p:spTree>
    <p:extLst>
      <p:ext uri="{BB962C8B-B14F-4D97-AF65-F5344CB8AC3E}">
        <p14:creationId xmlns:p14="http://schemas.microsoft.com/office/powerpoint/2010/main" val="3874874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655F88-9AC1-4DC5-8949-9D106C25D9E0}" type="datetimeFigureOut">
              <a:rPr lang="en-IN" smtClean="0"/>
              <a:t>13-04-2026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7F2B965C-5B3F-4938-9601-AB0D233DC18A}" type="slidenum">
              <a:rPr lang="en-IN" smtClean="0"/>
              <a:t>‹#›</a:t>
            </a:fld>
            <a:endParaRPr lang="en-IN"/>
          </a:p>
        </p:txBody>
      </p:sp>
    </p:spTree>
    <p:extLst>
      <p:ext uri="{BB962C8B-B14F-4D97-AF65-F5344CB8AC3E}">
        <p14:creationId xmlns:p14="http://schemas.microsoft.com/office/powerpoint/2010/main" val="4260511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0655F88-9AC1-4DC5-8949-9D106C25D9E0}" type="datetimeFigureOut">
              <a:rPr lang="en-IN" smtClean="0"/>
              <a:t>13-04-2026</a:t>
            </a:fld>
            <a:endParaRPr lang="en-IN"/>
          </a:p>
        </p:txBody>
      </p:sp>
      <p:sp>
        <p:nvSpPr>
          <p:cNvPr id="8" name="Footer Placeholder 7"/>
          <p:cNvSpPr>
            <a:spLocks noGrp="1"/>
          </p:cNvSpPr>
          <p:nvPr>
            <p:ph type="ftr" sz="quarter" idx="11"/>
          </p:nvPr>
        </p:nvSpPr>
        <p:spPr/>
        <p:txBody>
          <a:bodyPr/>
          <a:lstStyle/>
          <a:p>
            <a:endParaRPr lang="en-IN"/>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7F2B965C-5B3F-4938-9601-AB0D233DC18A}" type="slidenum">
              <a:rPr lang="en-IN" smtClean="0"/>
              <a:t>‹#›</a:t>
            </a:fld>
            <a:endParaRPr lang="en-IN"/>
          </a:p>
        </p:txBody>
      </p:sp>
    </p:spTree>
    <p:extLst>
      <p:ext uri="{BB962C8B-B14F-4D97-AF65-F5344CB8AC3E}">
        <p14:creationId xmlns:p14="http://schemas.microsoft.com/office/powerpoint/2010/main" val="3304841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0655F88-9AC1-4DC5-8949-9D106C25D9E0}" type="datetimeFigureOut">
              <a:rPr lang="en-IN" smtClean="0"/>
              <a:t>13-04-2026</a:t>
            </a:fld>
            <a:endParaRPr lang="en-IN"/>
          </a:p>
        </p:txBody>
      </p:sp>
      <p:sp>
        <p:nvSpPr>
          <p:cNvPr id="4" name="Footer Placeholder 3"/>
          <p:cNvSpPr>
            <a:spLocks noGrp="1"/>
          </p:cNvSpPr>
          <p:nvPr>
            <p:ph type="ftr" sz="quarter" idx="11"/>
          </p:nvPr>
        </p:nvSpPr>
        <p:spPr/>
        <p:txBody>
          <a:bodyPr/>
          <a:lstStyle/>
          <a:p>
            <a:endParaRPr lang="en-IN"/>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F2B965C-5B3F-4938-9601-AB0D233DC18A}" type="slidenum">
              <a:rPr lang="en-IN" smtClean="0"/>
              <a:t>‹#›</a:t>
            </a:fld>
            <a:endParaRPr lang="en-IN"/>
          </a:p>
        </p:txBody>
      </p:sp>
    </p:spTree>
    <p:extLst>
      <p:ext uri="{BB962C8B-B14F-4D97-AF65-F5344CB8AC3E}">
        <p14:creationId xmlns:p14="http://schemas.microsoft.com/office/powerpoint/2010/main" val="750749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655F88-9AC1-4DC5-8949-9D106C25D9E0}" type="datetimeFigureOut">
              <a:rPr lang="en-IN" smtClean="0"/>
              <a:t>13-04-2026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7F2B965C-5B3F-4938-9601-AB0D233DC18A}" type="slidenum">
              <a:rPr lang="en-IN" smtClean="0"/>
              <a:t>‹#›</a:t>
            </a:fld>
            <a:endParaRPr lang="en-IN"/>
          </a:p>
        </p:txBody>
      </p:sp>
    </p:spTree>
    <p:extLst>
      <p:ext uri="{BB962C8B-B14F-4D97-AF65-F5344CB8AC3E}">
        <p14:creationId xmlns:p14="http://schemas.microsoft.com/office/powerpoint/2010/main" val="21837475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655F88-9AC1-4DC5-8949-9D106C25D9E0}" type="datetimeFigureOut">
              <a:rPr lang="en-IN" smtClean="0"/>
              <a:t>13-04-2026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7F2B965C-5B3F-4938-9601-AB0D233DC18A}" type="slidenum">
              <a:rPr lang="en-IN" smtClean="0"/>
              <a:t>‹#›</a:t>
            </a:fld>
            <a:endParaRPr lang="en-IN"/>
          </a:p>
        </p:txBody>
      </p:sp>
    </p:spTree>
    <p:extLst>
      <p:ext uri="{BB962C8B-B14F-4D97-AF65-F5344CB8AC3E}">
        <p14:creationId xmlns:p14="http://schemas.microsoft.com/office/powerpoint/2010/main" val="2925398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655F88-9AC1-4DC5-8949-9D106C25D9E0}" type="datetimeFigureOut">
              <a:rPr lang="en-IN" smtClean="0"/>
              <a:t>13-04-2026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7F2B965C-5B3F-4938-9601-AB0D233DC18A}" type="slidenum">
              <a:rPr lang="en-IN" smtClean="0"/>
              <a:t>‹#›</a:t>
            </a:fld>
            <a:endParaRPr lang="en-IN"/>
          </a:p>
        </p:txBody>
      </p:sp>
    </p:spTree>
    <p:extLst>
      <p:ext uri="{BB962C8B-B14F-4D97-AF65-F5344CB8AC3E}">
        <p14:creationId xmlns:p14="http://schemas.microsoft.com/office/powerpoint/2010/main" val="22134083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655F88-9AC1-4DC5-8949-9D106C25D9E0}" type="datetimeFigureOut">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7F2B965C-5B3F-4938-9601-AB0D233DC18A}" type="slidenum">
              <a:rPr lang="en-IN" smtClean="0"/>
              <a:t>‹#›</a:t>
            </a:fld>
            <a:endParaRPr lang="en-IN"/>
          </a:p>
        </p:txBody>
      </p:sp>
    </p:spTree>
    <p:extLst>
      <p:ext uri="{BB962C8B-B14F-4D97-AF65-F5344CB8AC3E}">
        <p14:creationId xmlns:p14="http://schemas.microsoft.com/office/powerpoint/2010/main" val="1838318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655F88-9AC1-4DC5-8949-9D106C25D9E0}" type="datetimeFigureOut">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7F2B965C-5B3F-4938-9601-AB0D233DC18A}" type="slidenum">
              <a:rPr lang="en-IN" smtClean="0"/>
              <a:t>‹#›</a:t>
            </a:fld>
            <a:endParaRPr lang="en-IN"/>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1549063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0655F88-9AC1-4DC5-8949-9D106C25D9E0}" type="datetimeFigureOut">
              <a:rPr lang="en-IN" smtClean="0"/>
              <a:t>13-04-2026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7F2B965C-5B3F-4938-9601-AB0D233DC18A}" type="slidenum">
              <a:rPr lang="en-IN" smtClean="0"/>
              <a:t>‹#›</a:t>
            </a:fld>
            <a:endParaRPr lang="en-IN"/>
          </a:p>
        </p:txBody>
      </p:sp>
    </p:spTree>
    <p:extLst>
      <p:ext uri="{BB962C8B-B14F-4D97-AF65-F5344CB8AC3E}">
        <p14:creationId xmlns:p14="http://schemas.microsoft.com/office/powerpoint/2010/main" val="42058219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0655F88-9AC1-4DC5-8949-9D106C25D9E0}" type="datetimeFigureOut">
              <a:rPr lang="en-IN" smtClean="0"/>
              <a:t>13-04-2026</a:t>
            </a:fld>
            <a:endParaRPr lang="en-IN"/>
          </a:p>
        </p:txBody>
      </p:sp>
      <p:sp>
        <p:nvSpPr>
          <p:cNvPr id="6" name="Footer Placeholder 5"/>
          <p:cNvSpPr>
            <a:spLocks noGrp="1"/>
          </p:cNvSpPr>
          <p:nvPr>
            <p:ph type="ftr" sz="quarter" idx="11"/>
          </p:nvPr>
        </p:nvSpPr>
        <p:spPr/>
        <p:txBody>
          <a:bodyPr/>
          <a:lstStyle/>
          <a:p>
            <a:endParaRPr lang="en-IN"/>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7F2B965C-5B3F-4938-9601-AB0D233DC18A}" type="slidenum">
              <a:rPr lang="en-IN" smtClean="0"/>
              <a:t>‹#›</a:t>
            </a:fld>
            <a:endParaRPr lang="en-IN"/>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6743714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0655F88-9AC1-4DC5-8949-9D106C25D9E0}" type="datetimeFigureOut">
              <a:rPr lang="en-IN" smtClean="0"/>
              <a:t>13-04-2026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7F2B965C-5B3F-4938-9601-AB0D233DC18A}" type="slidenum">
              <a:rPr lang="en-IN" smtClean="0"/>
              <a:t>‹#›</a:t>
            </a:fld>
            <a:endParaRPr lang="en-IN"/>
          </a:p>
        </p:txBody>
      </p:sp>
    </p:spTree>
    <p:extLst>
      <p:ext uri="{BB962C8B-B14F-4D97-AF65-F5344CB8AC3E}">
        <p14:creationId xmlns:p14="http://schemas.microsoft.com/office/powerpoint/2010/main" val="6047847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655F88-9AC1-4DC5-8949-9D106C25D9E0}" type="datetimeFigureOut">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F2B965C-5B3F-4938-9601-AB0D233DC18A}" type="slidenum">
              <a:rPr lang="en-IN" smtClean="0"/>
              <a:t>‹#›</a:t>
            </a:fld>
            <a:endParaRPr lang="en-IN"/>
          </a:p>
        </p:txBody>
      </p:sp>
    </p:spTree>
    <p:extLst>
      <p:ext uri="{BB962C8B-B14F-4D97-AF65-F5344CB8AC3E}">
        <p14:creationId xmlns:p14="http://schemas.microsoft.com/office/powerpoint/2010/main" val="41528738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655F88-9AC1-4DC5-8949-9D106C25D9E0}" type="datetimeFigureOut">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F2B965C-5B3F-4938-9601-AB0D233DC18A}" type="slidenum">
              <a:rPr lang="en-IN" smtClean="0"/>
              <a:t>‹#›</a:t>
            </a:fld>
            <a:endParaRPr lang="en-IN"/>
          </a:p>
        </p:txBody>
      </p:sp>
    </p:spTree>
    <p:extLst>
      <p:ext uri="{BB962C8B-B14F-4D97-AF65-F5344CB8AC3E}">
        <p14:creationId xmlns:p14="http://schemas.microsoft.com/office/powerpoint/2010/main" val="4138468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B0655F88-9AC1-4DC5-8949-9D106C25D9E0}" type="datetimeFigureOut">
              <a:rPr lang="en-IN" smtClean="0"/>
              <a:t>13-04-2026</a:t>
            </a:fld>
            <a:endParaRPr lang="en-IN"/>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7F2B965C-5B3F-4938-9601-AB0D233DC18A}" type="slidenum">
              <a:rPr lang="en-IN" smtClean="0"/>
              <a:t>‹#›</a:t>
            </a:fld>
            <a:endParaRPr lang="en-IN"/>
          </a:p>
        </p:txBody>
      </p:sp>
    </p:spTree>
    <p:extLst>
      <p:ext uri="{BB962C8B-B14F-4D97-AF65-F5344CB8AC3E}">
        <p14:creationId xmlns:p14="http://schemas.microsoft.com/office/powerpoint/2010/main" val="3012358628"/>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 id="2147483852" r:id="rId12"/>
    <p:sldLayoutId id="2147483853" r:id="rId13"/>
    <p:sldLayoutId id="2147483854" r:id="rId14"/>
    <p:sldLayoutId id="2147483855" r:id="rId15"/>
    <p:sldLayoutId id="214748385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hyperlink" Target="https://chatgpt.com/-" TargetMode="External"/><Relationship Id="rId2" Type="http://schemas.openxmlformats.org/officeDocument/2006/relationships/hyperlink" Target="https://www.jiomart.com/" TargetMode="External"/><Relationship Id="rId1" Type="http://schemas.openxmlformats.org/officeDocument/2006/relationships/slideLayout" Target="../slideLayouts/slideLayout6.xml"/><Relationship Id="rId6" Type="http://schemas.openxmlformats.org/officeDocument/2006/relationships/hyperlink" Target="https://www.drawio.com/-" TargetMode="External"/><Relationship Id="rId5" Type="http://schemas.openxmlformats.org/officeDocument/2006/relationships/hyperlink" Target="https://www.mongodb.com/-" TargetMode="External"/><Relationship Id="rId4" Type="http://schemas.openxmlformats.org/officeDocument/2006/relationships/hyperlink" Target="https://gemini.google.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3648" y="759778"/>
            <a:ext cx="7884368" cy="523220"/>
          </a:xfrm>
        </p:spPr>
        <p:txBody>
          <a:bodyPr>
            <a:noAutofit/>
          </a:bodyPr>
          <a:lstStyle/>
          <a:p>
            <a:r>
              <a:rPr lang="en-US" sz="2400" dirty="0">
                <a:solidFill>
                  <a:schemeClr val="accent1"/>
                </a:solidFill>
              </a:rPr>
              <a:t>Shrinathji College Of Computer Applications</a:t>
            </a:r>
            <a:endParaRPr lang="en-IN" sz="2400" dirty="0">
              <a:solidFill>
                <a:schemeClr val="accent1"/>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6687" y="1515647"/>
            <a:ext cx="2880321" cy="2304256"/>
          </a:xfrm>
          <a:prstGeom prst="rect">
            <a:avLst/>
          </a:prstGeom>
          <a:ln>
            <a:noFill/>
          </a:ln>
          <a:effectLst>
            <a:softEdge rad="112500"/>
          </a:effectLst>
        </p:spPr>
      </p:pic>
      <p:sp>
        <p:nvSpPr>
          <p:cNvPr id="4" name="TextBox 3"/>
          <p:cNvSpPr txBox="1"/>
          <p:nvPr/>
        </p:nvSpPr>
        <p:spPr>
          <a:xfrm>
            <a:off x="1043608" y="5178743"/>
            <a:ext cx="2592288" cy="954107"/>
          </a:xfrm>
          <a:prstGeom prst="rect">
            <a:avLst/>
          </a:prstGeom>
          <a:noFill/>
        </p:spPr>
        <p:txBody>
          <a:bodyPr wrap="square" rtlCol="0">
            <a:spAutoFit/>
          </a:bodyPr>
          <a:lstStyle/>
          <a:p>
            <a:r>
              <a:rPr lang="en-US" sz="2000" b="1" dirty="0">
                <a:solidFill>
                  <a:srgbClr val="FF0000"/>
                </a:solidFill>
                <a:latin typeface="Times New Roman" pitchFamily="18" charset="0"/>
                <a:cs typeface="Times New Roman" pitchFamily="18" charset="0"/>
              </a:rPr>
              <a:t>SUBMITTED BY:</a:t>
            </a:r>
          </a:p>
          <a:p>
            <a:r>
              <a:rPr lang="en-US" dirty="0">
                <a:latin typeface="Times New Roman" pitchFamily="18" charset="0"/>
                <a:cs typeface="Times New Roman" pitchFamily="18" charset="0"/>
              </a:rPr>
              <a:t>Riddhi Pawar (7341)</a:t>
            </a:r>
          </a:p>
          <a:p>
            <a:r>
              <a:rPr lang="en-US" dirty="0">
                <a:latin typeface="Times New Roman" pitchFamily="18" charset="0"/>
                <a:cs typeface="Times New Roman" pitchFamily="18" charset="0"/>
              </a:rPr>
              <a:t>Krushi Patel (7340)</a:t>
            </a:r>
            <a:endParaRPr lang="en-IN" dirty="0">
              <a:latin typeface="Times New Roman" pitchFamily="18" charset="0"/>
              <a:cs typeface="Times New Roman" pitchFamily="18" charset="0"/>
            </a:endParaRPr>
          </a:p>
        </p:txBody>
      </p:sp>
      <p:sp>
        <p:nvSpPr>
          <p:cNvPr id="5" name="TextBox 4"/>
          <p:cNvSpPr txBox="1"/>
          <p:nvPr/>
        </p:nvSpPr>
        <p:spPr>
          <a:xfrm>
            <a:off x="6588224" y="5143246"/>
            <a:ext cx="1960793" cy="646331"/>
          </a:xfrm>
          <a:prstGeom prst="rect">
            <a:avLst/>
          </a:prstGeom>
          <a:noFill/>
        </p:spPr>
        <p:txBody>
          <a:bodyPr wrap="none" rtlCol="0">
            <a:spAutoFit/>
          </a:bodyPr>
          <a:lstStyle/>
          <a:p>
            <a:r>
              <a:rPr lang="en-US" b="1" dirty="0">
                <a:solidFill>
                  <a:srgbClr val="FF0000"/>
                </a:solidFill>
                <a:latin typeface="Times New Roman" pitchFamily="18" charset="0"/>
                <a:cs typeface="Times New Roman" pitchFamily="18" charset="0"/>
              </a:rPr>
              <a:t>GUIDED BY:</a:t>
            </a:r>
            <a:r>
              <a:rPr lang="en-IN" b="1" dirty="0">
                <a:solidFill>
                  <a:srgbClr val="FF0000"/>
                </a:solidFill>
                <a:latin typeface="Times New Roman" pitchFamily="18" charset="0"/>
                <a:cs typeface="Times New Roman" pitchFamily="18" charset="0"/>
              </a:rPr>
              <a:t>  </a:t>
            </a:r>
          </a:p>
          <a:p>
            <a:r>
              <a:rPr lang="en-US" dirty="0">
                <a:latin typeface="Times New Roman" pitchFamily="18" charset="0"/>
                <a:cs typeface="Times New Roman" pitchFamily="18" charset="0"/>
              </a:rPr>
              <a:t>Prof. Milind Pawar</a:t>
            </a:r>
          </a:p>
        </p:txBody>
      </p:sp>
      <p:sp>
        <p:nvSpPr>
          <p:cNvPr id="6" name="TextBox 5">
            <a:extLst>
              <a:ext uri="{FF2B5EF4-FFF2-40B4-BE49-F238E27FC236}">
                <a16:creationId xmlns:a16="http://schemas.microsoft.com/office/drawing/2014/main" id="{9C96A1D2-823A-10F5-92D8-9EA4946827D5}"/>
              </a:ext>
            </a:extLst>
          </p:cNvPr>
          <p:cNvSpPr txBox="1"/>
          <p:nvPr/>
        </p:nvSpPr>
        <p:spPr>
          <a:xfrm>
            <a:off x="3419871" y="4190225"/>
            <a:ext cx="2592289" cy="523220"/>
          </a:xfrm>
          <a:prstGeom prst="rect">
            <a:avLst/>
          </a:prstGeom>
          <a:noFill/>
        </p:spPr>
        <p:txBody>
          <a:bodyPr wrap="square" rtlCol="0">
            <a:spAutoFit/>
          </a:bodyPr>
          <a:lstStyle/>
          <a:p>
            <a:r>
              <a:rPr lang="en-US" sz="2800" dirty="0">
                <a:solidFill>
                  <a:srgbClr val="7ABC32"/>
                </a:solidFill>
                <a:latin typeface="Pacifico" panose="020F0502020204030204" pitchFamily="2" charset="0"/>
              </a:rPr>
              <a:t>Homy Bazaar</a:t>
            </a:r>
          </a:p>
        </p:txBody>
      </p:sp>
    </p:spTree>
    <p:extLst>
      <p:ext uri="{BB962C8B-B14F-4D97-AF65-F5344CB8AC3E}">
        <p14:creationId xmlns:p14="http://schemas.microsoft.com/office/powerpoint/2010/main" val="27022822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691680" y="1628800"/>
            <a:ext cx="6984776" cy="3277820"/>
          </a:xfrm>
          <a:prstGeom prst="rect">
            <a:avLst/>
          </a:prstGeom>
          <a:noFill/>
        </p:spPr>
        <p:txBody>
          <a:bodyPr wrap="square" rtlCol="0">
            <a:spAutoFit/>
          </a:bodyPr>
          <a:lstStyle/>
          <a:p>
            <a:pPr>
              <a:lnSpc>
                <a:spcPct val="150000"/>
              </a:lnSpc>
            </a:pPr>
            <a:r>
              <a:rPr lang="en-US" dirty="0">
                <a:latin typeface="Times New Roman" pitchFamily="18" charset="0"/>
                <a:cs typeface="Times New Roman" pitchFamily="18" charset="0"/>
              </a:rPr>
              <a:t>Homybazaar is an online grocery store designed to provide </a:t>
            </a:r>
          </a:p>
          <a:p>
            <a:pPr>
              <a:lnSpc>
                <a:spcPct val="150000"/>
              </a:lnSpc>
            </a:pPr>
            <a:r>
              <a:rPr lang="en-US" dirty="0">
                <a:latin typeface="Times New Roman" pitchFamily="18" charset="0"/>
                <a:cs typeface="Times New Roman" pitchFamily="18" charset="0"/>
              </a:rPr>
              <a:t>customers with a convenient and seamless shopping experience</a:t>
            </a:r>
          </a:p>
          <a:p>
            <a:pPr>
              <a:lnSpc>
                <a:spcPct val="150000"/>
              </a:lnSpc>
            </a:pPr>
            <a:r>
              <a:rPr lang="en-US" dirty="0">
                <a:latin typeface="Times New Roman" pitchFamily="18" charset="0"/>
                <a:cs typeface="Times New Roman" pitchFamily="18" charset="0"/>
              </a:rPr>
              <a:t>from the comfort of their home. The platform allows users to </a:t>
            </a:r>
          </a:p>
          <a:p>
            <a:pPr>
              <a:lnSpc>
                <a:spcPct val="150000"/>
              </a:lnSpc>
            </a:pPr>
            <a:r>
              <a:rPr lang="en-US" dirty="0">
                <a:latin typeface="Times New Roman" pitchFamily="18" charset="0"/>
                <a:cs typeface="Times New Roman" pitchFamily="18" charset="0"/>
              </a:rPr>
              <a:t>browse, search, and purchase a wide range of grocery items, and fresh products. With an easy-to-navigate interface, secure authentication, and smooth checkout process, Homy Bazaar aims to simplify grocery shopping and bring it closer to the digital age.</a:t>
            </a:r>
          </a:p>
          <a:p>
            <a:endParaRPr lang="en-IN" dirty="0">
              <a:latin typeface="Times New Roman" pitchFamily="18" charset="0"/>
              <a:cs typeface="Times New Roman" pitchFamily="18" charset="0"/>
            </a:endParaRPr>
          </a:p>
        </p:txBody>
      </p:sp>
      <p:sp>
        <p:nvSpPr>
          <p:cNvPr id="4" name="TextBox 3">
            <a:extLst>
              <a:ext uri="{FF2B5EF4-FFF2-40B4-BE49-F238E27FC236}">
                <a16:creationId xmlns:a16="http://schemas.microsoft.com/office/drawing/2014/main" id="{596E1477-B47B-578E-AB4D-3332516615F4}"/>
              </a:ext>
            </a:extLst>
          </p:cNvPr>
          <p:cNvSpPr txBox="1"/>
          <p:nvPr/>
        </p:nvSpPr>
        <p:spPr>
          <a:xfrm>
            <a:off x="1691680" y="620688"/>
            <a:ext cx="4032448" cy="646331"/>
          </a:xfrm>
          <a:prstGeom prst="rect">
            <a:avLst/>
          </a:prstGeom>
          <a:noFill/>
        </p:spPr>
        <p:txBody>
          <a:bodyPr wrap="square" rtlCol="0">
            <a:spAutoFit/>
          </a:bodyPr>
          <a:lstStyle/>
          <a:p>
            <a:r>
              <a:rPr lang="en-US" sz="3600" b="1" i="1" dirty="0">
                <a:solidFill>
                  <a:schemeClr val="accent1">
                    <a:lumMod val="50000"/>
                  </a:schemeClr>
                </a:solidFill>
              </a:rPr>
              <a:t>Introduction</a:t>
            </a:r>
            <a:endParaRPr lang="en-IN" sz="3600" b="1" i="1" dirty="0">
              <a:solidFill>
                <a:schemeClr val="accent1">
                  <a:lumMod val="50000"/>
                </a:schemeClr>
              </a:solidFill>
            </a:endParaRPr>
          </a:p>
        </p:txBody>
      </p:sp>
    </p:spTree>
    <p:extLst>
      <p:ext uri="{BB962C8B-B14F-4D97-AF65-F5344CB8AC3E}">
        <p14:creationId xmlns:p14="http://schemas.microsoft.com/office/powerpoint/2010/main" val="2980323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788666"/>
          </a:xfrm>
        </p:spPr>
        <p:txBody>
          <a:bodyPr>
            <a:normAutofit/>
          </a:bodyPr>
          <a:lstStyle/>
          <a:p>
            <a:r>
              <a:rPr lang="en-US" b="1" dirty="0">
                <a:solidFill>
                  <a:schemeClr val="accent1">
                    <a:lumMod val="50000"/>
                  </a:schemeClr>
                </a:solidFill>
              </a:rPr>
              <a:t>INDEX</a:t>
            </a:r>
            <a:endParaRPr lang="en-IN" b="1" dirty="0">
              <a:solidFill>
                <a:schemeClr val="accent1">
                  <a:lumMod val="50000"/>
                </a:schemeClr>
              </a:solidFill>
            </a:endParaRPr>
          </a:p>
        </p:txBody>
      </p:sp>
      <p:sp>
        <p:nvSpPr>
          <p:cNvPr id="4" name="TextBox 3"/>
          <p:cNvSpPr txBox="1"/>
          <p:nvPr/>
        </p:nvSpPr>
        <p:spPr>
          <a:xfrm>
            <a:off x="1673424" y="1568185"/>
            <a:ext cx="5797152" cy="3727111"/>
          </a:xfrm>
          <a:prstGeom prst="rect">
            <a:avLst/>
          </a:prstGeom>
          <a:noFill/>
        </p:spPr>
        <p:txBody>
          <a:bodyPr wrap="square" rtlCol="0">
            <a:spAutoFit/>
          </a:bodyPr>
          <a:lstStyle/>
          <a:p>
            <a:pPr marL="285750" indent="-285750">
              <a:lnSpc>
                <a:spcPct val="150000"/>
              </a:lnSpc>
              <a:buFont typeface="Arial" pitchFamily="34" charset="0"/>
              <a:buChar char="•"/>
            </a:pPr>
            <a:r>
              <a:rPr lang="en-US" sz="2000" dirty="0"/>
              <a:t>Introduction</a:t>
            </a:r>
          </a:p>
          <a:p>
            <a:pPr marL="285750" indent="-285750">
              <a:lnSpc>
                <a:spcPct val="150000"/>
              </a:lnSpc>
              <a:buFont typeface="Arial" pitchFamily="34" charset="0"/>
              <a:buChar char="•"/>
            </a:pPr>
            <a:r>
              <a:rPr lang="en-US" sz="2000" dirty="0"/>
              <a:t>Objectives</a:t>
            </a:r>
          </a:p>
          <a:p>
            <a:pPr marL="285750" indent="-285750">
              <a:lnSpc>
                <a:spcPct val="150000"/>
              </a:lnSpc>
              <a:buFont typeface="Arial" pitchFamily="34" charset="0"/>
              <a:buChar char="•"/>
            </a:pPr>
            <a:r>
              <a:rPr lang="en-US" sz="2000" dirty="0"/>
              <a:t>Features of website</a:t>
            </a:r>
          </a:p>
          <a:p>
            <a:pPr marL="285750" indent="-285750">
              <a:lnSpc>
                <a:spcPct val="150000"/>
              </a:lnSpc>
              <a:buFont typeface="Arial" pitchFamily="34" charset="0"/>
              <a:buChar char="•"/>
            </a:pPr>
            <a:r>
              <a:rPr lang="en-US" sz="2000" dirty="0"/>
              <a:t>Workflow of website</a:t>
            </a:r>
          </a:p>
          <a:p>
            <a:pPr marL="285750" indent="-285750">
              <a:lnSpc>
                <a:spcPct val="150000"/>
              </a:lnSpc>
              <a:buFont typeface="Arial" pitchFamily="34" charset="0"/>
              <a:buChar char="•"/>
            </a:pPr>
            <a:r>
              <a:rPr lang="en-US" sz="2000" dirty="0"/>
              <a:t>ER Diagram</a:t>
            </a:r>
          </a:p>
          <a:p>
            <a:pPr marL="285750" indent="-285750">
              <a:lnSpc>
                <a:spcPct val="150000"/>
              </a:lnSpc>
              <a:buFont typeface="Arial" pitchFamily="34" charset="0"/>
              <a:buChar char="•"/>
            </a:pPr>
            <a:r>
              <a:rPr lang="en-US" sz="2000" dirty="0"/>
              <a:t>Screenshots</a:t>
            </a:r>
          </a:p>
          <a:p>
            <a:pPr marL="285750" indent="-285750">
              <a:lnSpc>
                <a:spcPct val="150000"/>
              </a:lnSpc>
              <a:buFont typeface="Arial" pitchFamily="34" charset="0"/>
              <a:buChar char="•"/>
            </a:pPr>
            <a:r>
              <a:rPr lang="en-US" sz="2000" dirty="0"/>
              <a:t>Conclusion</a:t>
            </a:r>
          </a:p>
          <a:p>
            <a:pPr marL="285750" indent="-285750">
              <a:lnSpc>
                <a:spcPct val="150000"/>
              </a:lnSpc>
              <a:buFont typeface="Arial" pitchFamily="34" charset="0"/>
              <a:buChar char="•"/>
            </a:pPr>
            <a:r>
              <a:rPr lang="en-US" sz="2000" dirty="0"/>
              <a:t>References</a:t>
            </a:r>
            <a:endParaRPr lang="en-IN" sz="2000" dirty="0"/>
          </a:p>
        </p:txBody>
      </p:sp>
    </p:spTree>
    <p:extLst>
      <p:ext uri="{BB962C8B-B14F-4D97-AF65-F5344CB8AC3E}">
        <p14:creationId xmlns:p14="http://schemas.microsoft.com/office/powerpoint/2010/main" val="10653865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9672" y="664082"/>
            <a:ext cx="6589200" cy="1280890"/>
          </a:xfrm>
        </p:spPr>
        <p:txBody>
          <a:bodyPr>
            <a:normAutofit/>
          </a:bodyPr>
          <a:lstStyle/>
          <a:p>
            <a:r>
              <a:rPr lang="en-US" sz="3600" b="1" dirty="0">
                <a:solidFill>
                  <a:schemeClr val="accent1">
                    <a:lumMod val="50000"/>
                  </a:schemeClr>
                </a:solidFill>
              </a:rPr>
              <a:t>Software Used:</a:t>
            </a:r>
            <a:endParaRPr lang="en-IN" sz="3600" b="1" dirty="0">
              <a:solidFill>
                <a:schemeClr val="accent1">
                  <a:lumMod val="50000"/>
                </a:schemeClr>
              </a:solidFill>
            </a:endParaRPr>
          </a:p>
        </p:txBody>
      </p:sp>
      <p:graphicFrame>
        <p:nvGraphicFramePr>
          <p:cNvPr id="3" name="Table 2">
            <a:extLst>
              <a:ext uri="{FF2B5EF4-FFF2-40B4-BE49-F238E27FC236}">
                <a16:creationId xmlns:a16="http://schemas.microsoft.com/office/drawing/2014/main" id="{D11BFD78-684E-4C6A-0310-81469E50BC6A}"/>
              </a:ext>
            </a:extLst>
          </p:cNvPr>
          <p:cNvGraphicFramePr>
            <a:graphicFrameLocks noGrp="1"/>
          </p:cNvGraphicFramePr>
          <p:nvPr>
            <p:extLst>
              <p:ext uri="{D42A27DB-BD31-4B8C-83A1-F6EECF244321}">
                <p14:modId xmlns:p14="http://schemas.microsoft.com/office/powerpoint/2010/main" val="3203688476"/>
              </p:ext>
            </p:extLst>
          </p:nvPr>
        </p:nvGraphicFramePr>
        <p:xfrm>
          <a:off x="1619672" y="1700808"/>
          <a:ext cx="6696744" cy="4637126"/>
        </p:xfrm>
        <a:graphic>
          <a:graphicData uri="http://schemas.openxmlformats.org/drawingml/2006/table">
            <a:tbl>
              <a:tblPr firstRow="1" firstCol="1" bandRow="1">
                <a:tableStyleId>{D7AC3CCA-C797-4891-BE02-D94E43425B78}</a:tableStyleId>
              </a:tblPr>
              <a:tblGrid>
                <a:gridCol w="2841607">
                  <a:extLst>
                    <a:ext uri="{9D8B030D-6E8A-4147-A177-3AD203B41FA5}">
                      <a16:colId xmlns:a16="http://schemas.microsoft.com/office/drawing/2014/main" val="2299204158"/>
                    </a:ext>
                  </a:extLst>
                </a:gridCol>
                <a:gridCol w="3855137">
                  <a:extLst>
                    <a:ext uri="{9D8B030D-6E8A-4147-A177-3AD203B41FA5}">
                      <a16:colId xmlns:a16="http://schemas.microsoft.com/office/drawing/2014/main" val="4281326942"/>
                    </a:ext>
                  </a:extLst>
                </a:gridCol>
              </a:tblGrid>
              <a:tr h="792088">
                <a:tc>
                  <a:txBody>
                    <a:bodyPr/>
                    <a:lstStyle/>
                    <a:p>
                      <a:pPr>
                        <a:lnSpc>
                          <a:spcPct val="150000"/>
                        </a:lnSpc>
                        <a:spcBef>
                          <a:spcPts val="1200"/>
                        </a:spcBef>
                        <a:spcAft>
                          <a:spcPts val="800"/>
                        </a:spcAft>
                        <a:buNone/>
                      </a:pPr>
                      <a:r>
                        <a:rPr lang="en-IN" sz="1800" kern="100" dirty="0">
                          <a:effectLst/>
                        </a:rPr>
                        <a:t>Language  </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7310" marR="76200" marT="64135" marB="0"/>
                </a:tc>
                <a:tc>
                  <a:txBody>
                    <a:bodyPr/>
                    <a:lstStyle/>
                    <a:p>
                      <a:pPr>
                        <a:lnSpc>
                          <a:spcPct val="150000"/>
                        </a:lnSpc>
                        <a:spcBef>
                          <a:spcPts val="1200"/>
                        </a:spcBef>
                        <a:spcAft>
                          <a:spcPts val="800"/>
                        </a:spcAft>
                        <a:buNone/>
                      </a:pPr>
                      <a:r>
                        <a:rPr lang="en-IN" sz="1800" b="0" kern="100" dirty="0">
                          <a:effectLst/>
                        </a:rPr>
                        <a:t>HTML, JavaScript, CSS</a:t>
                      </a:r>
                      <a:endParaRPr lang="en-IN" sz="1100" b="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7310" marR="76200" marT="64135" marB="0"/>
                </a:tc>
                <a:extLst>
                  <a:ext uri="{0D108BD9-81ED-4DB2-BD59-A6C34878D82A}">
                    <a16:rowId xmlns:a16="http://schemas.microsoft.com/office/drawing/2014/main" val="1175606371"/>
                  </a:ext>
                </a:extLst>
              </a:tr>
              <a:tr h="729712">
                <a:tc>
                  <a:txBody>
                    <a:bodyPr/>
                    <a:lstStyle/>
                    <a:p>
                      <a:pPr>
                        <a:lnSpc>
                          <a:spcPct val="150000"/>
                        </a:lnSpc>
                        <a:spcBef>
                          <a:spcPts val="1200"/>
                        </a:spcBef>
                        <a:spcAft>
                          <a:spcPts val="800"/>
                        </a:spcAft>
                        <a:buNone/>
                      </a:pPr>
                      <a:r>
                        <a:rPr lang="en-IN" sz="1800" kern="100" dirty="0">
                          <a:effectLst/>
                        </a:rPr>
                        <a:t>Operating System </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7310" marR="76200" marT="64135" marB="0"/>
                </a:tc>
                <a:tc>
                  <a:txBody>
                    <a:bodyPr/>
                    <a:lstStyle/>
                    <a:p>
                      <a:pPr>
                        <a:lnSpc>
                          <a:spcPct val="150000"/>
                        </a:lnSpc>
                        <a:spcBef>
                          <a:spcPts val="1200"/>
                        </a:spcBef>
                        <a:spcAft>
                          <a:spcPts val="800"/>
                        </a:spcAft>
                        <a:buNone/>
                      </a:pPr>
                      <a:r>
                        <a:rPr lang="en-IN" sz="1800" kern="100" dirty="0">
                          <a:effectLst/>
                        </a:rPr>
                        <a:t>Windows 11</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7310" marR="76200" marT="64135" marB="0"/>
                </a:tc>
                <a:extLst>
                  <a:ext uri="{0D108BD9-81ED-4DB2-BD59-A6C34878D82A}">
                    <a16:rowId xmlns:a16="http://schemas.microsoft.com/office/drawing/2014/main" val="1671782384"/>
                  </a:ext>
                </a:extLst>
              </a:tr>
              <a:tr h="714187">
                <a:tc>
                  <a:txBody>
                    <a:bodyPr/>
                    <a:lstStyle/>
                    <a:p>
                      <a:pPr>
                        <a:lnSpc>
                          <a:spcPct val="150000"/>
                        </a:lnSpc>
                        <a:spcBef>
                          <a:spcPts val="1200"/>
                        </a:spcBef>
                        <a:spcAft>
                          <a:spcPts val="800"/>
                        </a:spcAft>
                        <a:buNone/>
                      </a:pPr>
                      <a:r>
                        <a:rPr lang="en-IN" sz="1800" kern="100" dirty="0">
                          <a:effectLst/>
                        </a:rPr>
                        <a:t>Server </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7310" marR="76200" marT="64135" marB="0" anchor="ctr"/>
                </a:tc>
                <a:tc>
                  <a:txBody>
                    <a:bodyPr/>
                    <a:lstStyle/>
                    <a:p>
                      <a:pPr>
                        <a:lnSpc>
                          <a:spcPct val="150000"/>
                        </a:lnSpc>
                        <a:spcBef>
                          <a:spcPts val="1200"/>
                        </a:spcBef>
                        <a:spcAft>
                          <a:spcPts val="800"/>
                        </a:spcAft>
                        <a:buNone/>
                      </a:pPr>
                      <a:r>
                        <a:rPr lang="en-IN" sz="1800" kern="100" dirty="0">
                          <a:effectLst/>
                        </a:rPr>
                        <a:t>MongoDB</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7310" marR="76200" marT="64135" marB="0" anchor="ctr"/>
                </a:tc>
                <a:extLst>
                  <a:ext uri="{0D108BD9-81ED-4DB2-BD59-A6C34878D82A}">
                    <a16:rowId xmlns:a16="http://schemas.microsoft.com/office/drawing/2014/main" val="1486937898"/>
                  </a:ext>
                </a:extLst>
              </a:tr>
              <a:tr h="638723">
                <a:tc>
                  <a:txBody>
                    <a:bodyPr/>
                    <a:lstStyle/>
                    <a:p>
                      <a:pPr>
                        <a:lnSpc>
                          <a:spcPct val="150000"/>
                        </a:lnSpc>
                        <a:spcBef>
                          <a:spcPts val="1200"/>
                        </a:spcBef>
                        <a:spcAft>
                          <a:spcPts val="800"/>
                        </a:spcAft>
                        <a:buNone/>
                      </a:pPr>
                      <a:r>
                        <a:rPr lang="en-IN" sz="1800" kern="100">
                          <a:effectLst/>
                        </a:rPr>
                        <a:t>Web Browser  </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7310" marR="76200" marT="64135" marB="0"/>
                </a:tc>
                <a:tc>
                  <a:txBody>
                    <a:bodyPr/>
                    <a:lstStyle/>
                    <a:p>
                      <a:pPr>
                        <a:lnSpc>
                          <a:spcPct val="150000"/>
                        </a:lnSpc>
                        <a:spcBef>
                          <a:spcPts val="1200"/>
                        </a:spcBef>
                        <a:spcAft>
                          <a:spcPts val="800"/>
                        </a:spcAft>
                        <a:buNone/>
                      </a:pPr>
                      <a:r>
                        <a:rPr lang="en-IN" sz="1800" kern="100" dirty="0">
                          <a:effectLst/>
                        </a:rPr>
                        <a:t>Chrome, Microsoft Edge  </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7310" marR="76200" marT="64135" marB="0"/>
                </a:tc>
                <a:extLst>
                  <a:ext uri="{0D108BD9-81ED-4DB2-BD59-A6C34878D82A}">
                    <a16:rowId xmlns:a16="http://schemas.microsoft.com/office/drawing/2014/main" val="3293790422"/>
                  </a:ext>
                </a:extLst>
              </a:tr>
              <a:tr h="710424">
                <a:tc>
                  <a:txBody>
                    <a:bodyPr/>
                    <a:lstStyle/>
                    <a:p>
                      <a:pPr>
                        <a:lnSpc>
                          <a:spcPct val="150000"/>
                        </a:lnSpc>
                        <a:spcBef>
                          <a:spcPts val="1200"/>
                        </a:spcBef>
                        <a:spcAft>
                          <a:spcPts val="800"/>
                        </a:spcAft>
                        <a:buNone/>
                      </a:pPr>
                      <a:r>
                        <a:rPr lang="en-IN" sz="1800" kern="100">
                          <a:effectLst/>
                        </a:rPr>
                        <a:t>Designing Tool </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7310" marR="76200" marT="64135" marB="0"/>
                </a:tc>
                <a:tc>
                  <a:txBody>
                    <a:bodyPr/>
                    <a:lstStyle/>
                    <a:p>
                      <a:pPr>
                        <a:lnSpc>
                          <a:spcPct val="150000"/>
                        </a:lnSpc>
                        <a:spcBef>
                          <a:spcPts val="1200"/>
                        </a:spcBef>
                        <a:spcAft>
                          <a:spcPts val="800"/>
                        </a:spcAft>
                        <a:buNone/>
                      </a:pPr>
                      <a:r>
                        <a:rPr lang="en-IN" sz="1800" kern="100" dirty="0">
                          <a:effectLst/>
                        </a:rPr>
                        <a:t>Visual Studio Code </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7310" marR="76200" marT="64135" marB="0"/>
                </a:tc>
                <a:extLst>
                  <a:ext uri="{0D108BD9-81ED-4DB2-BD59-A6C34878D82A}">
                    <a16:rowId xmlns:a16="http://schemas.microsoft.com/office/drawing/2014/main" val="2730034352"/>
                  </a:ext>
                </a:extLst>
              </a:tr>
              <a:tr h="1051992">
                <a:tc>
                  <a:txBody>
                    <a:bodyPr/>
                    <a:lstStyle/>
                    <a:p>
                      <a:pPr>
                        <a:lnSpc>
                          <a:spcPct val="150000"/>
                        </a:lnSpc>
                        <a:spcBef>
                          <a:spcPts val="1200"/>
                        </a:spcBef>
                        <a:spcAft>
                          <a:spcPts val="800"/>
                        </a:spcAft>
                        <a:buNone/>
                      </a:pPr>
                      <a:r>
                        <a:rPr lang="en-IN" sz="1800" kern="100" dirty="0">
                          <a:effectLst/>
                        </a:rPr>
                        <a:t>Server-Side Scripting </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7310" marR="76200" marT="64135" marB="0"/>
                </a:tc>
                <a:tc>
                  <a:txBody>
                    <a:bodyPr/>
                    <a:lstStyle/>
                    <a:p>
                      <a:pPr>
                        <a:lnSpc>
                          <a:spcPct val="150000"/>
                        </a:lnSpc>
                        <a:spcBef>
                          <a:spcPts val="1200"/>
                        </a:spcBef>
                        <a:spcAft>
                          <a:spcPts val="800"/>
                        </a:spcAft>
                        <a:buNone/>
                      </a:pPr>
                      <a:r>
                        <a:rPr lang="en-IN" sz="1800" kern="100" dirty="0">
                          <a:effectLst/>
                        </a:rPr>
                        <a:t>MongoDB compass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7310" marR="76200" marT="64135" marB="0"/>
                </a:tc>
                <a:extLst>
                  <a:ext uri="{0D108BD9-81ED-4DB2-BD59-A6C34878D82A}">
                    <a16:rowId xmlns:a16="http://schemas.microsoft.com/office/drawing/2014/main" val="3491023995"/>
                  </a:ext>
                </a:extLst>
              </a:tr>
            </a:tbl>
          </a:graphicData>
        </a:graphic>
      </p:graphicFrame>
    </p:spTree>
    <p:extLst>
      <p:ext uri="{BB962C8B-B14F-4D97-AF65-F5344CB8AC3E}">
        <p14:creationId xmlns:p14="http://schemas.microsoft.com/office/powerpoint/2010/main" val="10545619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7664" y="692696"/>
            <a:ext cx="4474840" cy="706424"/>
          </a:xfrm>
        </p:spPr>
        <p:txBody>
          <a:bodyPr>
            <a:normAutofit/>
          </a:bodyPr>
          <a:lstStyle/>
          <a:p>
            <a:r>
              <a:rPr lang="en-US" sz="3600" b="1" dirty="0">
                <a:solidFill>
                  <a:schemeClr val="accent1">
                    <a:lumMod val="50000"/>
                  </a:schemeClr>
                </a:solidFill>
              </a:rPr>
              <a:t>Future Scope</a:t>
            </a:r>
            <a:endParaRPr lang="en-IN" sz="3600" b="1" dirty="0">
              <a:solidFill>
                <a:schemeClr val="accent1">
                  <a:lumMod val="50000"/>
                </a:schemeClr>
              </a:solidFill>
            </a:endParaRPr>
          </a:p>
        </p:txBody>
      </p:sp>
      <p:sp>
        <p:nvSpPr>
          <p:cNvPr id="3" name="TextBox 2"/>
          <p:cNvSpPr txBox="1"/>
          <p:nvPr/>
        </p:nvSpPr>
        <p:spPr>
          <a:xfrm>
            <a:off x="827584" y="1365680"/>
            <a:ext cx="7653626" cy="4770537"/>
          </a:xfrm>
          <a:prstGeom prst="rect">
            <a:avLst/>
          </a:prstGeom>
          <a:noFill/>
        </p:spPr>
        <p:txBody>
          <a:bodyPr wrap="square" rtlCol="0">
            <a:spAutoFit/>
          </a:bodyPr>
          <a:lstStyle/>
          <a:p>
            <a:r>
              <a:rPr lang="en-US" sz="1600" dirty="0">
                <a:latin typeface="Times New Roman" pitchFamily="18" charset="0"/>
                <a:cs typeface="Times New Roman" pitchFamily="18" charset="0"/>
              </a:rPr>
              <a:t>Future versions of Homybazaar may include advanced features like:</a:t>
            </a:r>
          </a:p>
          <a:p>
            <a:endParaRPr lang="en-US" sz="1600" dirty="0">
              <a:latin typeface="Times New Roman" pitchFamily="18" charset="0"/>
              <a:cs typeface="Times New Roman" pitchFamily="18" charset="0"/>
            </a:endParaRPr>
          </a:p>
          <a:p>
            <a:r>
              <a:rPr lang="en-US" sz="1600" b="1" dirty="0">
                <a:latin typeface="Times New Roman" pitchFamily="18" charset="0"/>
                <a:cs typeface="Times New Roman" pitchFamily="18" charset="0"/>
              </a:rPr>
              <a:t>AI-based Smart Recommendations</a:t>
            </a:r>
            <a:r>
              <a:rPr lang="en-US" sz="1600" dirty="0">
                <a:latin typeface="Times New Roman" pitchFamily="18" charset="0"/>
                <a:cs typeface="Times New Roman" pitchFamily="18" charset="0"/>
              </a:rPr>
              <a:t>: Suggesting items based on previous shopping behavior and preferences. </a:t>
            </a:r>
          </a:p>
          <a:p>
            <a:endParaRPr lang="en-US" sz="1600" dirty="0">
              <a:latin typeface="Times New Roman" pitchFamily="18" charset="0"/>
              <a:cs typeface="Times New Roman" pitchFamily="18" charset="0"/>
            </a:endParaRPr>
          </a:p>
          <a:p>
            <a:r>
              <a:rPr lang="en-US" sz="1600" b="1" dirty="0">
                <a:latin typeface="Times New Roman" pitchFamily="18" charset="0"/>
                <a:cs typeface="Times New Roman" pitchFamily="18" charset="0"/>
              </a:rPr>
              <a:t>Subscription &amp; Auto-Reorder Options</a:t>
            </a:r>
            <a:r>
              <a:rPr lang="en-US" sz="1600" dirty="0">
                <a:latin typeface="Times New Roman" pitchFamily="18" charset="0"/>
                <a:cs typeface="Times New Roman" pitchFamily="18" charset="0"/>
              </a:rPr>
              <a:t>: Allowing users to automatically reorder frequently bought items. </a:t>
            </a:r>
          </a:p>
          <a:p>
            <a:endParaRPr lang="en-US" sz="1600" dirty="0">
              <a:latin typeface="Times New Roman" pitchFamily="18" charset="0"/>
              <a:cs typeface="Times New Roman" pitchFamily="18" charset="0"/>
            </a:endParaRPr>
          </a:p>
          <a:p>
            <a:r>
              <a:rPr lang="en-US" sz="1600" b="1" dirty="0">
                <a:latin typeface="Times New Roman" pitchFamily="18" charset="0"/>
                <a:cs typeface="Times New Roman" pitchFamily="18" charset="0"/>
              </a:rPr>
              <a:t>Live Customer Chat Support</a:t>
            </a:r>
            <a:r>
              <a:rPr lang="en-US" sz="1600" dirty="0">
                <a:latin typeface="Times New Roman" pitchFamily="18" charset="0"/>
                <a:cs typeface="Times New Roman" pitchFamily="18" charset="0"/>
              </a:rPr>
              <a:t>: Real-time help and assistance for a better shopping experience. </a:t>
            </a:r>
          </a:p>
          <a:p>
            <a:endParaRPr lang="en-US" sz="1600" dirty="0">
              <a:latin typeface="Times New Roman" pitchFamily="18" charset="0"/>
              <a:cs typeface="Times New Roman" pitchFamily="18" charset="0"/>
            </a:endParaRPr>
          </a:p>
          <a:p>
            <a:r>
              <a:rPr lang="en-US" sz="1600" b="1" dirty="0">
                <a:latin typeface="Times New Roman" pitchFamily="18" charset="0"/>
                <a:cs typeface="Times New Roman" pitchFamily="18" charset="0"/>
              </a:rPr>
              <a:t>Reward Points &amp; Loyalty System</a:t>
            </a:r>
            <a:r>
              <a:rPr lang="en-US" sz="1600" dirty="0">
                <a:latin typeface="Times New Roman" pitchFamily="18" charset="0"/>
                <a:cs typeface="Times New Roman" pitchFamily="18" charset="0"/>
              </a:rPr>
              <a:t>: Offering exclusive benefits and discounts for </a:t>
            </a:r>
            <a:r>
              <a:rPr lang="en-US" sz="1600">
                <a:latin typeface="Times New Roman" pitchFamily="18" charset="0"/>
                <a:cs typeface="Times New Roman" pitchFamily="18" charset="0"/>
              </a:rPr>
              <a:t>regular Customers. </a:t>
            </a:r>
            <a:endParaRPr lang="en-US" sz="1600" dirty="0">
              <a:latin typeface="Times New Roman" pitchFamily="18" charset="0"/>
              <a:cs typeface="Times New Roman" pitchFamily="18" charset="0"/>
            </a:endParaRPr>
          </a:p>
          <a:p>
            <a:endParaRPr lang="en-US" sz="1600" dirty="0">
              <a:latin typeface="Times New Roman" pitchFamily="18" charset="0"/>
              <a:cs typeface="Times New Roman" pitchFamily="18" charset="0"/>
            </a:endParaRPr>
          </a:p>
          <a:p>
            <a:r>
              <a:rPr lang="en-US" sz="1600" b="1" dirty="0">
                <a:latin typeface="Times New Roman" pitchFamily="18" charset="0"/>
                <a:cs typeface="Times New Roman" pitchFamily="18" charset="0"/>
              </a:rPr>
              <a:t>Voice Search &amp; Multilingual Support</a:t>
            </a:r>
            <a:r>
              <a:rPr lang="en-US" sz="1600" dirty="0">
                <a:latin typeface="Times New Roman" pitchFamily="18" charset="0"/>
                <a:cs typeface="Times New Roman" pitchFamily="18" charset="0"/>
              </a:rPr>
              <a:t>: Making the platform accessible and easy to use for everyone. </a:t>
            </a:r>
          </a:p>
          <a:p>
            <a:endParaRPr lang="en-US" sz="1600" dirty="0">
              <a:latin typeface="Times New Roman" pitchFamily="18" charset="0"/>
              <a:cs typeface="Times New Roman" pitchFamily="18" charset="0"/>
            </a:endParaRPr>
          </a:p>
          <a:p>
            <a:r>
              <a:rPr lang="en-US" sz="1600" b="1" dirty="0">
                <a:latin typeface="Times New Roman" pitchFamily="18" charset="0"/>
                <a:cs typeface="Times New Roman" pitchFamily="18" charset="0"/>
              </a:rPr>
              <a:t>Social Sharing</a:t>
            </a:r>
            <a:r>
              <a:rPr lang="en-US" sz="1600" dirty="0">
                <a:latin typeface="Times New Roman" pitchFamily="18" charset="0"/>
                <a:cs typeface="Times New Roman" pitchFamily="18" charset="0"/>
              </a:rPr>
              <a:t>: Allowing users to share grocery lists or </a:t>
            </a:r>
            <a:r>
              <a:rPr lang="en-US" sz="1600" dirty="0" err="1">
                <a:latin typeface="Times New Roman" pitchFamily="18" charset="0"/>
                <a:cs typeface="Times New Roman" pitchFamily="18" charset="0"/>
              </a:rPr>
              <a:t>favourite</a:t>
            </a:r>
            <a:r>
              <a:rPr lang="en-US" sz="1600" dirty="0">
                <a:latin typeface="Times New Roman" pitchFamily="18" charset="0"/>
                <a:cs typeface="Times New Roman" pitchFamily="18" charset="0"/>
              </a:rPr>
              <a:t> products with family and friends.</a:t>
            </a:r>
            <a:endParaRPr lang="en-IN" sz="1600" dirty="0">
              <a:latin typeface="Times New Roman" pitchFamily="18" charset="0"/>
              <a:cs typeface="Times New Roman" pitchFamily="18" charset="0"/>
            </a:endParaRPr>
          </a:p>
        </p:txBody>
      </p:sp>
    </p:spTree>
    <p:extLst>
      <p:ext uri="{BB962C8B-B14F-4D97-AF65-F5344CB8AC3E}">
        <p14:creationId xmlns:p14="http://schemas.microsoft.com/office/powerpoint/2010/main" val="11056322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23649" y="620688"/>
            <a:ext cx="3127780" cy="769441"/>
          </a:xfrm>
          <a:prstGeom prst="rect">
            <a:avLst/>
          </a:prstGeom>
          <a:noFill/>
        </p:spPr>
        <p:txBody>
          <a:bodyPr wrap="none" rtlCol="0">
            <a:spAutoFit/>
          </a:bodyPr>
          <a:lstStyle/>
          <a:p>
            <a:pPr algn="ctr"/>
            <a:r>
              <a:rPr lang="en-IN" sz="4400" b="1" dirty="0"/>
              <a:t>Objectives</a:t>
            </a:r>
          </a:p>
        </p:txBody>
      </p:sp>
      <p:sp>
        <p:nvSpPr>
          <p:cNvPr id="3" name="TextBox 2"/>
          <p:cNvSpPr txBox="1"/>
          <p:nvPr/>
        </p:nvSpPr>
        <p:spPr>
          <a:xfrm>
            <a:off x="1443037" y="1628800"/>
            <a:ext cx="6480720" cy="4247317"/>
          </a:xfrm>
          <a:prstGeom prst="rect">
            <a:avLst/>
          </a:prstGeom>
          <a:noFill/>
        </p:spPr>
        <p:txBody>
          <a:bodyPr wrap="square" rtlCol="0">
            <a:spAutoFit/>
          </a:bodyPr>
          <a:lstStyle/>
          <a:p>
            <a:r>
              <a:rPr lang="en-US" b="1" dirty="0"/>
              <a:t>Convenience:</a:t>
            </a:r>
            <a:r>
              <a:rPr lang="en-US" dirty="0"/>
              <a:t> Enable users to shop for groceries online without visiting physical stores.</a:t>
            </a:r>
          </a:p>
          <a:p>
            <a:endParaRPr lang="en-US" dirty="0"/>
          </a:p>
          <a:p>
            <a:r>
              <a:rPr lang="en-US" b="1" dirty="0"/>
              <a:t>Efficiency:</a:t>
            </a:r>
            <a:r>
              <a:rPr lang="en-US" dirty="0"/>
              <a:t> Reduce shopping time by providing quick product search, categorization, and filtering options.</a:t>
            </a:r>
          </a:p>
          <a:p>
            <a:endParaRPr lang="en-US" dirty="0"/>
          </a:p>
          <a:p>
            <a:r>
              <a:rPr lang="en-US" b="1" dirty="0"/>
              <a:t>Accessibility:</a:t>
            </a:r>
            <a:r>
              <a:rPr lang="en-US" dirty="0"/>
              <a:t> Make grocery shopping accessible 24/7 for all users through web access.</a:t>
            </a:r>
          </a:p>
          <a:p>
            <a:endParaRPr lang="en-US" dirty="0"/>
          </a:p>
          <a:p>
            <a:r>
              <a:rPr lang="en-US" b="1" dirty="0"/>
              <a:t>User Engagement:</a:t>
            </a:r>
            <a:r>
              <a:rPr lang="en-US" dirty="0"/>
              <a:t> Allow users to track orders, manage wish lists, and monitor shopping history.</a:t>
            </a:r>
          </a:p>
          <a:p>
            <a:endParaRPr lang="en-US" dirty="0"/>
          </a:p>
          <a:p>
            <a:r>
              <a:rPr lang="en-US" b="1" dirty="0"/>
              <a:t>Business Growth:</a:t>
            </a:r>
            <a:r>
              <a:rPr lang="en-US" dirty="0"/>
              <a:t> Facilitate sales management and inventory tracking for the admin to streamline store operations</a:t>
            </a:r>
          </a:p>
          <a:p>
            <a:endParaRPr lang="en-IN" b="1" dirty="0"/>
          </a:p>
        </p:txBody>
      </p:sp>
    </p:spTree>
    <p:extLst>
      <p:ext uri="{BB962C8B-B14F-4D97-AF65-F5344CB8AC3E}">
        <p14:creationId xmlns:p14="http://schemas.microsoft.com/office/powerpoint/2010/main" val="34587117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5666" y="543918"/>
            <a:ext cx="5365076" cy="854968"/>
          </a:xfrm>
        </p:spPr>
        <p:txBody>
          <a:bodyPr>
            <a:normAutofit fontScale="90000"/>
          </a:bodyPr>
          <a:lstStyle/>
          <a:p>
            <a:r>
              <a:rPr lang="en-US" sz="5400" b="1" dirty="0"/>
              <a:t> </a:t>
            </a:r>
            <a:r>
              <a:rPr lang="en-US" sz="4400" b="1" dirty="0"/>
              <a:t>Features of website</a:t>
            </a:r>
            <a:endParaRPr lang="en-IN" sz="4400" dirty="0"/>
          </a:p>
        </p:txBody>
      </p:sp>
      <p:sp>
        <p:nvSpPr>
          <p:cNvPr id="3" name="Text Placeholder 2"/>
          <p:cNvSpPr>
            <a:spLocks noGrp="1"/>
          </p:cNvSpPr>
          <p:nvPr>
            <p:ph type="body" idx="1"/>
          </p:nvPr>
        </p:nvSpPr>
        <p:spPr>
          <a:xfrm>
            <a:off x="1043608" y="1660042"/>
            <a:ext cx="2874596" cy="576262"/>
          </a:xfrm>
        </p:spPr>
        <p:txBody>
          <a:bodyPr/>
          <a:lstStyle/>
          <a:p>
            <a:pPr algn="ctr"/>
            <a:r>
              <a:rPr lang="en-US" dirty="0"/>
              <a:t>  User Side</a:t>
            </a:r>
            <a:endParaRPr lang="en-IN" dirty="0"/>
          </a:p>
        </p:txBody>
      </p:sp>
      <p:sp>
        <p:nvSpPr>
          <p:cNvPr id="5" name="Content Placeholder 4"/>
          <p:cNvSpPr>
            <a:spLocks noGrp="1"/>
          </p:cNvSpPr>
          <p:nvPr>
            <p:ph sz="half" idx="2"/>
          </p:nvPr>
        </p:nvSpPr>
        <p:spPr>
          <a:xfrm>
            <a:off x="1079488" y="2348880"/>
            <a:ext cx="3420718" cy="3744416"/>
          </a:xfrm>
        </p:spPr>
        <p:txBody>
          <a:bodyPr>
            <a:normAutofit lnSpcReduction="10000"/>
          </a:bodyPr>
          <a:lstStyle/>
          <a:p>
            <a:r>
              <a:rPr lang="en-US" dirty="0">
                <a:latin typeface="Times New Roman" pitchFamily="18" charset="0"/>
                <a:cs typeface="Times New Roman" pitchFamily="18" charset="0"/>
              </a:rPr>
              <a:t>User authentication (signup/login)</a:t>
            </a:r>
          </a:p>
          <a:p>
            <a:r>
              <a:rPr lang="en-US" dirty="0">
                <a:latin typeface="Times New Roman" pitchFamily="18" charset="0"/>
                <a:cs typeface="Times New Roman" pitchFamily="18" charset="0"/>
              </a:rPr>
              <a:t>Browse and search products with categories and filters</a:t>
            </a:r>
          </a:p>
          <a:p>
            <a:r>
              <a:rPr lang="en-US" dirty="0">
                <a:latin typeface="Times New Roman" pitchFamily="18" charset="0"/>
                <a:cs typeface="Times New Roman" pitchFamily="18" charset="0"/>
              </a:rPr>
              <a:t>Add products to cart, Wishlist, and manage orders</a:t>
            </a:r>
          </a:p>
          <a:p>
            <a:r>
              <a:rPr lang="en-US" dirty="0">
                <a:latin typeface="Times New Roman" pitchFamily="18" charset="0"/>
                <a:cs typeface="Times New Roman" pitchFamily="18" charset="0"/>
              </a:rPr>
              <a:t>Checkout with simulated payment options</a:t>
            </a:r>
          </a:p>
          <a:p>
            <a:r>
              <a:rPr lang="en-US" dirty="0">
                <a:latin typeface="Times New Roman" pitchFamily="18" charset="0"/>
                <a:cs typeface="Times New Roman" pitchFamily="18" charset="0"/>
              </a:rPr>
              <a:t>Order tracking and Cancellation</a:t>
            </a:r>
          </a:p>
          <a:p>
            <a:r>
              <a:rPr lang="en-US" dirty="0">
                <a:latin typeface="Times New Roman" pitchFamily="18" charset="0"/>
                <a:cs typeface="Times New Roman" pitchFamily="18" charset="0"/>
              </a:rPr>
              <a:t>Responsive design for mobile and desktop users</a:t>
            </a:r>
          </a:p>
          <a:p>
            <a:endParaRPr lang="en-IN" dirty="0"/>
          </a:p>
        </p:txBody>
      </p:sp>
      <p:sp>
        <p:nvSpPr>
          <p:cNvPr id="4" name="Text Placeholder 3"/>
          <p:cNvSpPr>
            <a:spLocks noGrp="1"/>
          </p:cNvSpPr>
          <p:nvPr>
            <p:ph type="body" sz="quarter" idx="3"/>
          </p:nvPr>
        </p:nvSpPr>
        <p:spPr>
          <a:xfrm>
            <a:off x="5004048" y="1660042"/>
            <a:ext cx="2873239" cy="576262"/>
          </a:xfrm>
        </p:spPr>
        <p:txBody>
          <a:bodyPr/>
          <a:lstStyle/>
          <a:p>
            <a:pPr algn="ctr"/>
            <a:r>
              <a:rPr lang="en-US" dirty="0"/>
              <a:t>Admin Side</a:t>
            </a:r>
            <a:endParaRPr lang="en-IN" dirty="0"/>
          </a:p>
        </p:txBody>
      </p:sp>
      <p:sp>
        <p:nvSpPr>
          <p:cNvPr id="6" name="Content Placeholder 5"/>
          <p:cNvSpPr>
            <a:spLocks noGrp="1"/>
          </p:cNvSpPr>
          <p:nvPr>
            <p:ph sz="quarter" idx="4"/>
          </p:nvPr>
        </p:nvSpPr>
        <p:spPr>
          <a:xfrm>
            <a:off x="4734722" y="2381334"/>
            <a:ext cx="3732040" cy="3711962"/>
          </a:xfrm>
        </p:spPr>
        <p:txBody>
          <a:bodyPr>
            <a:normAutofit lnSpcReduction="10000"/>
          </a:bodyPr>
          <a:lstStyle/>
          <a:p>
            <a:r>
              <a:rPr lang="en-US" dirty="0">
                <a:latin typeface="Times New Roman" pitchFamily="18" charset="0"/>
                <a:cs typeface="Times New Roman" pitchFamily="18" charset="0"/>
              </a:rPr>
              <a:t>Admin login and authentication</a:t>
            </a:r>
          </a:p>
          <a:p>
            <a:r>
              <a:rPr lang="en-US" dirty="0">
                <a:latin typeface="Times New Roman" pitchFamily="18" charset="0"/>
                <a:cs typeface="Times New Roman" pitchFamily="18" charset="0"/>
              </a:rPr>
              <a:t>Add, update, and delete products</a:t>
            </a:r>
          </a:p>
          <a:p>
            <a:r>
              <a:rPr lang="en-US" dirty="0">
                <a:latin typeface="Times New Roman" pitchFamily="18" charset="0"/>
                <a:cs typeface="Times New Roman" pitchFamily="18" charset="0"/>
              </a:rPr>
              <a:t>Manage user orders and track inventory</a:t>
            </a:r>
          </a:p>
          <a:p>
            <a:r>
              <a:rPr lang="en-US" dirty="0">
                <a:latin typeface="Times New Roman" pitchFamily="18" charset="0"/>
                <a:cs typeface="Times New Roman" pitchFamily="18" charset="0"/>
              </a:rPr>
              <a:t>View sales reports and analytics</a:t>
            </a:r>
          </a:p>
          <a:p>
            <a:r>
              <a:rPr lang="en-US" dirty="0">
                <a:latin typeface="Times New Roman" pitchFamily="18" charset="0"/>
                <a:cs typeface="Times New Roman" pitchFamily="18" charset="0"/>
              </a:rPr>
              <a:t>Handle product categories and stock availability</a:t>
            </a:r>
          </a:p>
          <a:p>
            <a:endParaRPr lang="en-IN" dirty="0"/>
          </a:p>
        </p:txBody>
      </p:sp>
    </p:spTree>
    <p:extLst>
      <p:ext uri="{BB962C8B-B14F-4D97-AF65-F5344CB8AC3E}">
        <p14:creationId xmlns:p14="http://schemas.microsoft.com/office/powerpoint/2010/main" val="15697927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2146" y="650130"/>
            <a:ext cx="4262529" cy="909970"/>
          </a:xfrm>
        </p:spPr>
        <p:txBody>
          <a:bodyPr>
            <a:normAutofit/>
          </a:bodyPr>
          <a:lstStyle/>
          <a:p>
            <a:r>
              <a:rPr lang="en-US" sz="3200" b="1" dirty="0"/>
              <a:t>Workflow of website</a:t>
            </a:r>
            <a:endParaRPr lang="en-IN" sz="3200" dirty="0"/>
          </a:p>
        </p:txBody>
      </p:sp>
      <p:sp>
        <p:nvSpPr>
          <p:cNvPr id="3" name="TextBox 2"/>
          <p:cNvSpPr txBox="1"/>
          <p:nvPr/>
        </p:nvSpPr>
        <p:spPr>
          <a:xfrm>
            <a:off x="1510038" y="1340768"/>
            <a:ext cx="6120680" cy="2535566"/>
          </a:xfrm>
          <a:prstGeom prst="rect">
            <a:avLst/>
          </a:prstGeom>
          <a:noFill/>
        </p:spPr>
        <p:txBody>
          <a:bodyPr wrap="square" rtlCol="0">
            <a:spAutoFit/>
          </a:bodyPr>
          <a:lstStyle/>
          <a:p>
            <a:pPr>
              <a:lnSpc>
                <a:spcPct val="150000"/>
              </a:lnSpc>
            </a:pPr>
            <a:r>
              <a:rPr lang="en-US" b="1" dirty="0">
                <a:latin typeface="Times New Roman" pitchFamily="18" charset="0"/>
                <a:cs typeface="Times New Roman" pitchFamily="18" charset="0"/>
              </a:rPr>
              <a:t>User Workflow:</a:t>
            </a:r>
            <a:endParaRPr lang="en-US" dirty="0">
              <a:latin typeface="Times New Roman" pitchFamily="18" charset="0"/>
              <a:cs typeface="Times New Roman" pitchFamily="18" charset="0"/>
            </a:endParaRPr>
          </a:p>
          <a:p>
            <a:pPr>
              <a:lnSpc>
                <a:spcPct val="150000"/>
              </a:lnSpc>
            </a:pPr>
            <a:r>
              <a:rPr lang="en-US" dirty="0">
                <a:latin typeface="Times New Roman" pitchFamily="18" charset="0"/>
                <a:cs typeface="Times New Roman" pitchFamily="18" charset="0"/>
              </a:rPr>
              <a:t>User signs up or logs in.</a:t>
            </a:r>
          </a:p>
          <a:p>
            <a:pPr>
              <a:lnSpc>
                <a:spcPct val="150000"/>
              </a:lnSpc>
            </a:pPr>
            <a:r>
              <a:rPr lang="en-US" dirty="0">
                <a:latin typeface="Times New Roman" pitchFamily="18" charset="0"/>
                <a:cs typeface="Times New Roman" pitchFamily="18" charset="0"/>
              </a:rPr>
              <a:t>Browses products using categories, search, or filters.</a:t>
            </a:r>
          </a:p>
          <a:p>
            <a:pPr>
              <a:lnSpc>
                <a:spcPct val="150000"/>
              </a:lnSpc>
            </a:pPr>
            <a:r>
              <a:rPr lang="en-US" dirty="0">
                <a:latin typeface="Times New Roman" pitchFamily="18" charset="0"/>
                <a:cs typeface="Times New Roman" pitchFamily="18" charset="0"/>
              </a:rPr>
              <a:t>Adds selected items to the cart or </a:t>
            </a:r>
            <a:r>
              <a:rPr lang="en-US" dirty="0" err="1">
                <a:latin typeface="Times New Roman" pitchFamily="18" charset="0"/>
                <a:cs typeface="Times New Roman" pitchFamily="18" charset="0"/>
              </a:rPr>
              <a:t>wishlist</a:t>
            </a:r>
            <a:r>
              <a:rPr lang="en-US" dirty="0">
                <a:latin typeface="Times New Roman" pitchFamily="18" charset="0"/>
                <a:cs typeface="Times New Roman" pitchFamily="18" charset="0"/>
              </a:rPr>
              <a:t>.</a:t>
            </a:r>
          </a:p>
          <a:p>
            <a:pPr>
              <a:lnSpc>
                <a:spcPct val="150000"/>
              </a:lnSpc>
            </a:pPr>
            <a:r>
              <a:rPr lang="en-US" dirty="0">
                <a:latin typeface="Times New Roman" pitchFamily="18" charset="0"/>
                <a:cs typeface="Times New Roman" pitchFamily="18" charset="0"/>
              </a:rPr>
              <a:t>Proceeds to checkout and simulates payment.</a:t>
            </a:r>
          </a:p>
          <a:p>
            <a:pPr>
              <a:lnSpc>
                <a:spcPct val="150000"/>
              </a:lnSpc>
            </a:pPr>
            <a:r>
              <a:rPr lang="en-US" dirty="0">
                <a:latin typeface="Times New Roman" pitchFamily="18" charset="0"/>
                <a:cs typeface="Times New Roman" pitchFamily="18" charset="0"/>
              </a:rPr>
              <a:t>Tracks order status and can cancel orders if needed</a:t>
            </a:r>
          </a:p>
        </p:txBody>
      </p:sp>
      <p:sp>
        <p:nvSpPr>
          <p:cNvPr id="4" name="TextBox 3"/>
          <p:cNvSpPr txBox="1"/>
          <p:nvPr/>
        </p:nvSpPr>
        <p:spPr>
          <a:xfrm>
            <a:off x="1532146" y="4048812"/>
            <a:ext cx="5436104" cy="2535566"/>
          </a:xfrm>
          <a:prstGeom prst="rect">
            <a:avLst/>
          </a:prstGeom>
          <a:noFill/>
        </p:spPr>
        <p:txBody>
          <a:bodyPr wrap="none" rtlCol="0">
            <a:spAutoFit/>
          </a:bodyPr>
          <a:lstStyle/>
          <a:p>
            <a:pPr>
              <a:lnSpc>
                <a:spcPct val="150000"/>
              </a:lnSpc>
            </a:pPr>
            <a:r>
              <a:rPr lang="en-US" b="1" dirty="0">
                <a:latin typeface="Times New Roman" pitchFamily="18" charset="0"/>
                <a:cs typeface="Times New Roman" pitchFamily="18" charset="0"/>
              </a:rPr>
              <a:t>Admin Workflow:</a:t>
            </a:r>
            <a:endParaRPr lang="en-US" dirty="0">
              <a:latin typeface="Times New Roman" pitchFamily="18" charset="0"/>
              <a:cs typeface="Times New Roman" pitchFamily="18" charset="0"/>
            </a:endParaRPr>
          </a:p>
          <a:p>
            <a:pPr>
              <a:lnSpc>
                <a:spcPct val="150000"/>
              </a:lnSpc>
            </a:pPr>
            <a:r>
              <a:rPr lang="en-US" dirty="0">
                <a:latin typeface="Times New Roman" pitchFamily="18" charset="0"/>
                <a:cs typeface="Times New Roman" pitchFamily="18" charset="0"/>
              </a:rPr>
              <a:t>Admin logs in to the dashboard.</a:t>
            </a:r>
          </a:p>
          <a:p>
            <a:pPr>
              <a:lnSpc>
                <a:spcPct val="150000"/>
              </a:lnSpc>
            </a:pPr>
            <a:r>
              <a:rPr lang="en-US" dirty="0">
                <a:latin typeface="Times New Roman" pitchFamily="18" charset="0"/>
                <a:cs typeface="Times New Roman" pitchFamily="18" charset="0"/>
              </a:rPr>
              <a:t>Manages products: add, edit, or delete items.</a:t>
            </a:r>
          </a:p>
          <a:p>
            <a:pPr>
              <a:lnSpc>
                <a:spcPct val="150000"/>
              </a:lnSpc>
            </a:pPr>
            <a:r>
              <a:rPr lang="en-US" dirty="0">
                <a:latin typeface="Times New Roman" pitchFamily="18" charset="0"/>
                <a:cs typeface="Times New Roman" pitchFamily="18" charset="0"/>
              </a:rPr>
              <a:t>Views and processes user orders.</a:t>
            </a:r>
          </a:p>
          <a:p>
            <a:pPr>
              <a:lnSpc>
                <a:spcPct val="150000"/>
              </a:lnSpc>
            </a:pPr>
            <a:r>
              <a:rPr lang="en-US" dirty="0">
                <a:latin typeface="Times New Roman" pitchFamily="18" charset="0"/>
                <a:cs typeface="Times New Roman" pitchFamily="18" charset="0"/>
              </a:rPr>
              <a:t>Monitors inventory and stock levels.</a:t>
            </a:r>
          </a:p>
          <a:p>
            <a:pPr>
              <a:lnSpc>
                <a:spcPct val="150000"/>
              </a:lnSpc>
            </a:pPr>
            <a:r>
              <a:rPr lang="en-US" dirty="0">
                <a:latin typeface="Times New Roman" pitchFamily="18" charset="0"/>
                <a:cs typeface="Times New Roman" pitchFamily="18" charset="0"/>
              </a:rPr>
              <a:t>Generates sales reports to analyze business performance.</a:t>
            </a:r>
          </a:p>
        </p:txBody>
      </p:sp>
    </p:spTree>
    <p:extLst>
      <p:ext uri="{BB962C8B-B14F-4D97-AF65-F5344CB8AC3E}">
        <p14:creationId xmlns:p14="http://schemas.microsoft.com/office/powerpoint/2010/main" val="12673406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19672" y="620688"/>
            <a:ext cx="2800767" cy="646331"/>
          </a:xfrm>
          <a:prstGeom prst="rect">
            <a:avLst/>
          </a:prstGeom>
          <a:noFill/>
        </p:spPr>
        <p:txBody>
          <a:bodyPr wrap="none" rtlCol="0">
            <a:spAutoFit/>
          </a:bodyPr>
          <a:lstStyle/>
          <a:p>
            <a:r>
              <a:rPr lang="en-US" sz="3600" b="1" dirty="0">
                <a:latin typeface="Times New Roman" pitchFamily="18" charset="0"/>
                <a:cs typeface="Times New Roman" pitchFamily="18" charset="0"/>
              </a:rPr>
              <a:t>ER Diagram </a:t>
            </a:r>
            <a:endParaRPr lang="en-IN" sz="3600" b="1" dirty="0">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DB97CEFF-1D74-1012-FEFE-4388ED40DAB1}"/>
              </a:ext>
            </a:extLst>
          </p:cNvPr>
          <p:cNvPicPr>
            <a:picLocks noChangeAspect="1"/>
          </p:cNvPicPr>
          <p:nvPr/>
        </p:nvPicPr>
        <p:blipFill>
          <a:blip r:embed="rId2">
            <a:duotone>
              <a:prstClr val="black"/>
              <a:srgbClr val="7ABC32">
                <a:tint val="45000"/>
                <a:satMod val="400000"/>
              </a:srgbClr>
            </a:duotone>
            <a:extLst>
              <a:ext uri="{28A0092B-C50C-407E-A947-70E740481C1C}">
                <a14:useLocalDpi xmlns:a14="http://schemas.microsoft.com/office/drawing/2010/main" val="0"/>
              </a:ext>
            </a:extLst>
          </a:blip>
          <a:stretch>
            <a:fillRect/>
          </a:stretch>
        </p:blipFill>
        <p:spPr>
          <a:xfrm>
            <a:off x="611560" y="943853"/>
            <a:ext cx="8352928" cy="5760640"/>
          </a:xfrm>
          <a:prstGeom prst="rect">
            <a:avLst/>
          </a:prstGeom>
        </p:spPr>
      </p:pic>
    </p:spTree>
    <p:extLst>
      <p:ext uri="{BB962C8B-B14F-4D97-AF65-F5344CB8AC3E}">
        <p14:creationId xmlns:p14="http://schemas.microsoft.com/office/powerpoint/2010/main" val="4116271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19672" y="692696"/>
            <a:ext cx="2525050" cy="584775"/>
          </a:xfrm>
          <a:prstGeom prst="rect">
            <a:avLst/>
          </a:prstGeom>
          <a:noFill/>
        </p:spPr>
        <p:txBody>
          <a:bodyPr wrap="none" rtlCol="0">
            <a:spAutoFit/>
          </a:bodyPr>
          <a:lstStyle/>
          <a:p>
            <a:r>
              <a:rPr lang="en-US" sz="3200" b="1" dirty="0"/>
              <a:t>Home Page</a:t>
            </a:r>
            <a:endParaRPr lang="en-IN" sz="3200" b="1" dirty="0"/>
          </a:p>
        </p:txBody>
      </p:sp>
      <p:pic>
        <p:nvPicPr>
          <p:cNvPr id="3" name="Picture 2">
            <a:extLst>
              <a:ext uri="{FF2B5EF4-FFF2-40B4-BE49-F238E27FC236}">
                <a16:creationId xmlns:a16="http://schemas.microsoft.com/office/drawing/2014/main" id="{1B513054-4884-C289-0A9F-9E6424A37B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2316" y="1412776"/>
            <a:ext cx="8539325" cy="475252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7590172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75656" y="692696"/>
            <a:ext cx="3744416" cy="461665"/>
          </a:xfrm>
          <a:prstGeom prst="rect">
            <a:avLst/>
          </a:prstGeom>
          <a:noFill/>
        </p:spPr>
        <p:txBody>
          <a:bodyPr wrap="square" rtlCol="0">
            <a:spAutoFit/>
          </a:bodyPr>
          <a:lstStyle/>
          <a:p>
            <a:r>
              <a:rPr lang="en-US" sz="2400" b="1" dirty="0"/>
              <a:t>User Sign up and Login</a:t>
            </a:r>
            <a:endParaRPr lang="en-IN" sz="2400" b="1" dirty="0"/>
          </a:p>
        </p:txBody>
      </p:sp>
      <p:pic>
        <p:nvPicPr>
          <p:cNvPr id="3" name="Picture 2">
            <a:extLst>
              <a:ext uri="{FF2B5EF4-FFF2-40B4-BE49-F238E27FC236}">
                <a16:creationId xmlns:a16="http://schemas.microsoft.com/office/drawing/2014/main" id="{03FDA92C-2A72-6DEF-1A61-E2AF5CF0B9E1}"/>
              </a:ext>
            </a:extLst>
          </p:cNvPr>
          <p:cNvPicPr>
            <a:picLocks noChangeAspect="1"/>
          </p:cNvPicPr>
          <p:nvPr/>
        </p:nvPicPr>
        <p:blipFill>
          <a:blip r:embed="rId2"/>
          <a:stretch>
            <a:fillRect/>
          </a:stretch>
        </p:blipFill>
        <p:spPr>
          <a:xfrm>
            <a:off x="803216" y="1444153"/>
            <a:ext cx="3744416" cy="4013217"/>
          </a:xfrm>
          <a:prstGeom prst="rect">
            <a:avLst/>
          </a:prstGeom>
          <a:ln>
            <a:noFill/>
          </a:ln>
          <a:effectLst>
            <a:outerShdw blurRad="190500" algn="tl" rotWithShape="0">
              <a:srgbClr val="000000">
                <a:alpha val="70000"/>
              </a:srgbClr>
            </a:outerShdw>
          </a:effectLst>
        </p:spPr>
      </p:pic>
      <p:pic>
        <p:nvPicPr>
          <p:cNvPr id="4" name="Picture 3">
            <a:extLst>
              <a:ext uri="{FF2B5EF4-FFF2-40B4-BE49-F238E27FC236}">
                <a16:creationId xmlns:a16="http://schemas.microsoft.com/office/drawing/2014/main" id="{A94C0221-C75B-235A-C9C3-5E6BAF4537D6}"/>
              </a:ext>
            </a:extLst>
          </p:cNvPr>
          <p:cNvPicPr>
            <a:picLocks noChangeAspect="1"/>
          </p:cNvPicPr>
          <p:nvPr/>
        </p:nvPicPr>
        <p:blipFill>
          <a:blip r:embed="rId3"/>
          <a:stretch>
            <a:fillRect/>
          </a:stretch>
        </p:blipFill>
        <p:spPr>
          <a:xfrm>
            <a:off x="5024216" y="1444152"/>
            <a:ext cx="3744416" cy="476894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2780214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47664" y="732705"/>
            <a:ext cx="3024336" cy="523220"/>
          </a:xfrm>
          <a:prstGeom prst="rect">
            <a:avLst/>
          </a:prstGeom>
          <a:noFill/>
        </p:spPr>
        <p:txBody>
          <a:bodyPr wrap="square" rtlCol="0">
            <a:spAutoFit/>
          </a:bodyPr>
          <a:lstStyle/>
          <a:p>
            <a:r>
              <a:rPr lang="en-US" sz="2800" b="1" dirty="0"/>
              <a:t>User Dashboard</a:t>
            </a:r>
            <a:endParaRPr lang="en-IN" sz="2800" b="1" dirty="0"/>
          </a:p>
        </p:txBody>
      </p:sp>
      <p:pic>
        <p:nvPicPr>
          <p:cNvPr id="3" name="Picture 2">
            <a:extLst>
              <a:ext uri="{FF2B5EF4-FFF2-40B4-BE49-F238E27FC236}">
                <a16:creationId xmlns:a16="http://schemas.microsoft.com/office/drawing/2014/main" id="{BA0F7099-9356-8569-45D7-561462344968}"/>
              </a:ext>
            </a:extLst>
          </p:cNvPr>
          <p:cNvPicPr>
            <a:picLocks noChangeAspect="1"/>
          </p:cNvPicPr>
          <p:nvPr/>
        </p:nvPicPr>
        <p:blipFill>
          <a:blip r:embed="rId2"/>
          <a:stretch>
            <a:fillRect/>
          </a:stretch>
        </p:blipFill>
        <p:spPr>
          <a:xfrm>
            <a:off x="539552" y="1556791"/>
            <a:ext cx="8331004" cy="456850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6997071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75656" y="764704"/>
            <a:ext cx="2892138" cy="461665"/>
          </a:xfrm>
          <a:prstGeom prst="rect">
            <a:avLst/>
          </a:prstGeom>
          <a:noFill/>
        </p:spPr>
        <p:txBody>
          <a:bodyPr wrap="none" rtlCol="0">
            <a:spAutoFit/>
          </a:bodyPr>
          <a:lstStyle/>
          <a:p>
            <a:r>
              <a:rPr lang="en-US" sz="2400" b="1" dirty="0"/>
              <a:t>Admin Dashboard</a:t>
            </a:r>
            <a:endParaRPr lang="en-IN" sz="2400" b="1" dirty="0"/>
          </a:p>
        </p:txBody>
      </p:sp>
      <p:pic>
        <p:nvPicPr>
          <p:cNvPr id="3" name="Picture 2">
            <a:extLst>
              <a:ext uri="{FF2B5EF4-FFF2-40B4-BE49-F238E27FC236}">
                <a16:creationId xmlns:a16="http://schemas.microsoft.com/office/drawing/2014/main" id="{77B622C4-AD97-D049-ACFD-8FBBEA168064}"/>
              </a:ext>
            </a:extLst>
          </p:cNvPr>
          <p:cNvPicPr>
            <a:picLocks noChangeAspect="1"/>
          </p:cNvPicPr>
          <p:nvPr/>
        </p:nvPicPr>
        <p:blipFill>
          <a:blip r:embed="rId2"/>
          <a:stretch>
            <a:fillRect/>
          </a:stretch>
        </p:blipFill>
        <p:spPr>
          <a:xfrm>
            <a:off x="539552" y="1484784"/>
            <a:ext cx="8217510" cy="439248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8318845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03648" y="738072"/>
            <a:ext cx="6873605" cy="461665"/>
          </a:xfrm>
          <a:prstGeom prst="rect">
            <a:avLst/>
          </a:prstGeom>
          <a:noFill/>
        </p:spPr>
        <p:txBody>
          <a:bodyPr wrap="square" rtlCol="0">
            <a:spAutoFit/>
          </a:bodyPr>
          <a:lstStyle/>
          <a:p>
            <a:r>
              <a:rPr lang="en-US" sz="2400" b="1" dirty="0"/>
              <a:t>Product &amp; Order management</a:t>
            </a:r>
            <a:endParaRPr lang="en-IN" sz="2400" b="1" dirty="0"/>
          </a:p>
        </p:txBody>
      </p:sp>
      <p:pic>
        <p:nvPicPr>
          <p:cNvPr id="3" name="Picture 2">
            <a:extLst>
              <a:ext uri="{FF2B5EF4-FFF2-40B4-BE49-F238E27FC236}">
                <a16:creationId xmlns:a16="http://schemas.microsoft.com/office/drawing/2014/main" id="{02E02BD7-BAC6-E051-91BD-7FEA4221E2DF}"/>
              </a:ext>
            </a:extLst>
          </p:cNvPr>
          <p:cNvPicPr>
            <a:picLocks noChangeAspect="1"/>
          </p:cNvPicPr>
          <p:nvPr/>
        </p:nvPicPr>
        <p:blipFill>
          <a:blip r:embed="rId2"/>
          <a:stretch>
            <a:fillRect/>
          </a:stretch>
        </p:blipFill>
        <p:spPr>
          <a:xfrm>
            <a:off x="395536" y="1317578"/>
            <a:ext cx="8064896" cy="2792541"/>
          </a:xfrm>
          <a:prstGeom prst="rect">
            <a:avLst/>
          </a:prstGeom>
          <a:ln>
            <a:noFill/>
          </a:ln>
          <a:effectLst>
            <a:outerShdw blurRad="190500" algn="tl" rotWithShape="0">
              <a:srgbClr val="000000">
                <a:alpha val="70000"/>
              </a:srgbClr>
            </a:outerShdw>
          </a:effectLst>
        </p:spPr>
      </p:pic>
      <p:pic>
        <p:nvPicPr>
          <p:cNvPr id="4" name="Picture 3">
            <a:extLst>
              <a:ext uri="{FF2B5EF4-FFF2-40B4-BE49-F238E27FC236}">
                <a16:creationId xmlns:a16="http://schemas.microsoft.com/office/drawing/2014/main" id="{416D67DA-29BE-748C-DB1E-EDE9D699F828}"/>
              </a:ext>
            </a:extLst>
          </p:cNvPr>
          <p:cNvPicPr>
            <a:picLocks noChangeAspect="1"/>
          </p:cNvPicPr>
          <p:nvPr/>
        </p:nvPicPr>
        <p:blipFill>
          <a:blip r:embed="rId3"/>
          <a:stretch>
            <a:fillRect/>
          </a:stretch>
        </p:blipFill>
        <p:spPr>
          <a:xfrm>
            <a:off x="395536" y="4201328"/>
            <a:ext cx="8064896" cy="258889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6832600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7664" y="620688"/>
            <a:ext cx="3528392" cy="720080"/>
          </a:xfrm>
        </p:spPr>
        <p:txBody>
          <a:bodyPr>
            <a:normAutofit fontScale="90000"/>
          </a:bodyPr>
          <a:lstStyle/>
          <a:p>
            <a:r>
              <a:rPr lang="en-US" sz="4400" b="1" dirty="0">
                <a:solidFill>
                  <a:schemeClr val="accent1">
                    <a:lumMod val="50000"/>
                  </a:schemeClr>
                </a:solidFill>
              </a:rPr>
              <a:t>Conclusion</a:t>
            </a:r>
            <a:endParaRPr lang="en-IN" sz="4400" b="1" dirty="0">
              <a:solidFill>
                <a:schemeClr val="accent1">
                  <a:lumMod val="50000"/>
                </a:schemeClr>
              </a:solidFill>
            </a:endParaRPr>
          </a:p>
        </p:txBody>
      </p:sp>
      <p:sp>
        <p:nvSpPr>
          <p:cNvPr id="3" name="TextBox 2"/>
          <p:cNvSpPr txBox="1"/>
          <p:nvPr/>
        </p:nvSpPr>
        <p:spPr>
          <a:xfrm>
            <a:off x="899592" y="1340768"/>
            <a:ext cx="7920880" cy="5109091"/>
          </a:xfrm>
          <a:prstGeom prst="rect">
            <a:avLst/>
          </a:prstGeom>
          <a:noFill/>
        </p:spPr>
        <p:txBody>
          <a:bodyPr wrap="square" rtlCol="0">
            <a:spAutoFit/>
          </a:bodyPr>
          <a:lstStyle/>
          <a:p>
            <a:pPr>
              <a:lnSpc>
                <a:spcPct val="150000"/>
              </a:lnSpc>
            </a:pPr>
            <a:r>
              <a:rPr lang="en-US" sz="1600" dirty="0">
                <a:latin typeface="Times New Roman" pitchFamily="18" charset="0"/>
                <a:cs typeface="Times New Roman" pitchFamily="18" charset="0"/>
              </a:rPr>
              <a:t>The project demonstrates a well-structured design through detailed Data Flow Diagrams (Level 0 to Level 1) and a complete Entity-Relationship (ER) diagram, highlighting the relationships between users, products, orders, payments, reviews, and Wishlist functionalities. Additionally, the data dictionaries for all key tables provide a clear understanding of the database structure, attributes, and constraints</a:t>
            </a:r>
            <a:r>
              <a:rPr lang="en-US" sz="1600" dirty="0"/>
              <a:t>.</a:t>
            </a:r>
            <a:endParaRPr lang="en-US" sz="1600" dirty="0">
              <a:latin typeface="Times New Roman" pitchFamily="18" charset="0"/>
              <a:cs typeface="Times New Roman" pitchFamily="18" charset="0"/>
            </a:endParaRPr>
          </a:p>
          <a:p>
            <a:pPr>
              <a:lnSpc>
                <a:spcPct val="150000"/>
              </a:lnSpc>
            </a:pPr>
            <a:r>
              <a:rPr lang="en-US" sz="1600" dirty="0" err="1">
                <a:latin typeface="Times New Roman" pitchFamily="18" charset="0"/>
                <a:cs typeface="Times New Roman" pitchFamily="18" charset="0"/>
              </a:rPr>
              <a:t>HomyBazaar</a:t>
            </a:r>
            <a:r>
              <a:rPr lang="en-US" sz="1600" dirty="0">
                <a:latin typeface="Times New Roman" pitchFamily="18" charset="0"/>
                <a:cs typeface="Times New Roman" pitchFamily="18" charset="0"/>
              </a:rPr>
              <a:t> is a comprehensive and user-friendly e-commerce platform designed to facilitate seamless online shopping. The system efficiently manages all aspects of the shopping experience, including product browsing, cart management, order placement, payment processing, and order tracking. The admin side provides robust control over products, users, and orders, ensuring smooth operations and inventory management. Overall, serves as a strong example of an organized, scalable, and maintainable e-commerce system that balances user convenience with admin efficiency, and it can be further enhanced with features like real-time inventory updates, analytics, and personalized recommendations. </a:t>
            </a:r>
          </a:p>
          <a:p>
            <a:endParaRPr lang="en-IN" sz="1400" dirty="0">
              <a:latin typeface="Times New Roman" pitchFamily="18" charset="0"/>
              <a:cs typeface="Times New Roman" pitchFamily="18" charset="0"/>
            </a:endParaRPr>
          </a:p>
        </p:txBody>
      </p:sp>
    </p:spTree>
    <p:extLst>
      <p:ext uri="{BB962C8B-B14F-4D97-AF65-F5344CB8AC3E}">
        <p14:creationId xmlns:p14="http://schemas.microsoft.com/office/powerpoint/2010/main" val="25988955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548680"/>
            <a:ext cx="4970512" cy="1280890"/>
          </a:xfrm>
        </p:spPr>
        <p:txBody>
          <a:bodyPr>
            <a:normAutofit/>
          </a:bodyPr>
          <a:lstStyle/>
          <a:p>
            <a:pPr algn="ctr"/>
            <a:r>
              <a:rPr lang="en-US" sz="4400" b="1" dirty="0">
                <a:solidFill>
                  <a:schemeClr val="accent1">
                    <a:lumMod val="50000"/>
                  </a:schemeClr>
                </a:solidFill>
              </a:rPr>
              <a:t>Reference</a:t>
            </a:r>
            <a:endParaRPr lang="en-IN" sz="4400" b="1" dirty="0">
              <a:solidFill>
                <a:schemeClr val="accent1">
                  <a:lumMod val="50000"/>
                </a:schemeClr>
              </a:solidFill>
            </a:endParaRPr>
          </a:p>
        </p:txBody>
      </p:sp>
      <p:sp>
        <p:nvSpPr>
          <p:cNvPr id="4" name="TextBox 3"/>
          <p:cNvSpPr txBox="1"/>
          <p:nvPr/>
        </p:nvSpPr>
        <p:spPr>
          <a:xfrm>
            <a:off x="1115616" y="1688424"/>
            <a:ext cx="6601487" cy="3329053"/>
          </a:xfrm>
          <a:prstGeom prst="rect">
            <a:avLst/>
          </a:prstGeom>
          <a:noFill/>
        </p:spPr>
        <p:txBody>
          <a:bodyPr wrap="none" rtlCol="0">
            <a:spAutoFit/>
          </a:bodyPr>
          <a:lstStyle/>
          <a:p>
            <a:pPr>
              <a:lnSpc>
                <a:spcPct val="200000"/>
              </a:lnSpc>
            </a:pPr>
            <a:r>
              <a:rPr lang="en-IN" dirty="0">
                <a:hlinkClick r:id="rId2"/>
              </a:rPr>
              <a:t>https://www.jiomart.com/</a:t>
            </a:r>
            <a:r>
              <a:rPr lang="en-IN" dirty="0"/>
              <a:t> - online grocery shopping store</a:t>
            </a:r>
          </a:p>
          <a:p>
            <a:pPr>
              <a:lnSpc>
                <a:spcPct val="200000"/>
              </a:lnSpc>
            </a:pPr>
            <a:r>
              <a:rPr lang="en-IN" dirty="0">
                <a:hlinkClick r:id="rId3"/>
              </a:rPr>
              <a:t>https://chatgpt.com/-</a:t>
            </a:r>
            <a:r>
              <a:rPr lang="en-IN" dirty="0"/>
              <a:t> AI for coding and designing</a:t>
            </a:r>
          </a:p>
          <a:p>
            <a:pPr>
              <a:lnSpc>
                <a:spcPct val="200000"/>
              </a:lnSpc>
            </a:pPr>
            <a:r>
              <a:rPr lang="en-IN" u="sng" dirty="0">
                <a:hlinkClick r:id="rId4"/>
              </a:rPr>
              <a:t>https://gemini.google.com/-</a:t>
            </a:r>
            <a:r>
              <a:rPr lang="en-IN" dirty="0"/>
              <a:t> AI for coding and designing</a:t>
            </a:r>
          </a:p>
          <a:p>
            <a:pPr>
              <a:lnSpc>
                <a:spcPct val="200000"/>
              </a:lnSpc>
            </a:pPr>
            <a:r>
              <a:rPr lang="en-IN" dirty="0">
                <a:hlinkClick r:id="rId5"/>
              </a:rPr>
              <a:t>https://www.mongodb.com/-</a:t>
            </a:r>
            <a:r>
              <a:rPr lang="en-IN" dirty="0"/>
              <a:t> database connections</a:t>
            </a:r>
          </a:p>
          <a:p>
            <a:pPr>
              <a:lnSpc>
                <a:spcPct val="200000"/>
              </a:lnSpc>
            </a:pPr>
            <a:r>
              <a:rPr lang="en-IN" u="sng" dirty="0">
                <a:hlinkClick r:id="rId6"/>
              </a:rPr>
              <a:t>https://www.drawio.com/-</a:t>
            </a:r>
            <a:r>
              <a:rPr lang="en-IN" dirty="0"/>
              <a:t> for DFD &amp; ER Diagrams</a:t>
            </a:r>
          </a:p>
          <a:p>
            <a:pPr>
              <a:lnSpc>
                <a:spcPct val="200000"/>
              </a:lnSpc>
            </a:pPr>
            <a:endParaRPr lang="en-IN" dirty="0"/>
          </a:p>
        </p:txBody>
      </p:sp>
    </p:spTree>
    <p:extLst>
      <p:ext uri="{BB962C8B-B14F-4D97-AF65-F5344CB8AC3E}">
        <p14:creationId xmlns:p14="http://schemas.microsoft.com/office/powerpoint/2010/main" val="35177229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542</TotalTime>
  <Words>753</Words>
  <Application>Microsoft Office PowerPoint</Application>
  <PresentationFormat>On-screen Show (4:3)</PresentationFormat>
  <Paragraphs>100</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Century Gothic</vt:lpstr>
      <vt:lpstr>Pacifico</vt:lpstr>
      <vt:lpstr>Times New Roman</vt:lpstr>
      <vt:lpstr>Wingdings 3</vt:lpstr>
      <vt:lpstr>Wisp</vt:lpstr>
      <vt:lpstr>Shrinathji College Of Computer Applications</vt:lpstr>
      <vt:lpstr>PowerPoint Presentation</vt:lpstr>
      <vt:lpstr>INDEX</vt:lpstr>
      <vt:lpstr>Software Used:</vt:lpstr>
      <vt:lpstr>Future Scope</vt:lpstr>
      <vt:lpstr>PowerPoint Presentation</vt:lpstr>
      <vt:lpstr> Features of website</vt:lpstr>
      <vt:lpstr>Workflow of website</vt:lpstr>
      <vt:lpstr>PowerPoint Presentation</vt:lpstr>
      <vt:lpstr>PowerPoint Presentation</vt:lpstr>
      <vt:lpstr>PowerPoint Presentation</vt:lpstr>
      <vt:lpstr>PowerPoint Presentation</vt:lpstr>
      <vt:lpstr>PowerPoint Presentation</vt:lpstr>
      <vt:lpstr>PowerPoint Presentation</vt:lpstr>
      <vt:lpstr>Conclusion</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WELCOME</dc:creator>
  <cp:lastModifiedBy>Krushi Patel</cp:lastModifiedBy>
  <cp:revision>23</cp:revision>
  <dcterms:created xsi:type="dcterms:W3CDTF">2025-11-19T07:16:32Z</dcterms:created>
  <dcterms:modified xsi:type="dcterms:W3CDTF">2026-04-13T05:35:18Z</dcterms:modified>
</cp:coreProperties>
</file>